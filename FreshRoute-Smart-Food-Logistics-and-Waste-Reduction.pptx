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Host Grotesk Bold"/>
      <p:regular r:id="rId201314"/>
    </p:embeddedFont>
    <p:embeddedFont>
      <p:font typeface="Host Grotesk ExtraBold"/>
      <p:regular r:id="rId201315"/>
    </p:embeddedFont>
    <p:embeddedFont>
      <p:font typeface="Red Hat Text Medium"/>
      <p:regular r:id="rId201316"/>
    </p:embeddedFont>
    <p:embeddedFont>
      <p:font typeface="Red Hat Text SemiBold"/>
      <p:regular r:id="rId201317"/>
    </p:embeddedFont>
    <p:embeddedFont>
      <p:font typeface="Red Hat Text Bold"/>
      <p:regular r:id="rId201318"/>
    </p:embeddedFont>
    <p:embeddedFont>
      <p:font typeface="Red Hat Text"/>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core promise: FreshRoute helps food move with better timing, better risk awareness, and less avoidable waste. This is a practical green logistics prototype, not a claim of measured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the chain from farm to warehouse to retailer. The risk is cumulative: a late route, poor storage, or a missed demand signal can turn good food into loss before the customer ever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FreshRoute as a decision layer rather than another disconnected tool. The four capabilities work together: prioritize what matters first, spot risk early, plan movement efficiently, and redirect suitable surplus.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this as one continuous loop from intake to action. The prototype does not ask managers to interpret five separate tools. It turns the same shipment record into a priority, a route recommendation, an alert, and a possible surplus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comparison row by row. The difference is not simply automation. FreshRoute changes the order of decisions: risk and freshness influence the plan before the route is locked, while surplus and sustainability remain visible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scenario explicitly hypothetical. Explain that the system compares perishability and operational constraints, then recommends priorities and routes. It can also alert the warehouse manager and surface nearby buyers for suitable surplus. These are intended capabilities,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exists in the hackathon prototype from what comes next. The initial logic is rule-based and practical to test. Future inputs such as temperature sensors and AI-enhanced spoilage prediction can make the risk layer more continuous and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problem, the integrated solution, and the boundary of the claim. FreshRoute aims to reduce avoidable waste and unnecessary travel through better decisions. Invite questions about the prototype, the scenario, and the path to real-world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D24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D2413"/>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0383" y="685800"/>
            <a:ext cx="5460863" cy="4648200"/>
          </a:xfrm>
          <a:custGeom>
            <a:avLst/>
            <a:gdLst/>
            <a:ahLst/>
            <a:cxnLst/>
            <a:rect l="l" t="t" r="r" b="b"/>
            <a:pathLst>
              <a:path w="5460863" h="4648200">
                <a:moveTo>
                  <a:pt x="126997" y="0"/>
                </a:moveTo>
                <a:lnTo>
                  <a:pt x="4648084" y="0"/>
                </a:lnTo>
                <a:arcTo hR="812800" wR="812779" stAng="16200000" swAng="5400000"/>
                <a:lnTo>
                  <a:pt x="5460863" y="4521200"/>
                </a:lnTo>
                <a:arcTo hR="127000" wR="126997" stAng="0" swAng="5400000"/>
                <a:lnTo>
                  <a:pt x="126997" y="4648200"/>
                </a:lnTo>
                <a:arcTo hR="127000" wR="126997" stAng="5400000" swAng="5400000"/>
                <a:lnTo>
                  <a:pt x="0" y="127000"/>
                </a:lnTo>
                <a:arcTo hR="127000" wR="126997" stAng="10800000" swAng="5400000"/>
                <a:close/>
              </a:path>
            </a:pathLst>
          </a:custGeom>
          <a:solidFill>
            <a:srgbClr val="283020"/>
          </a:solidFill>
          <a:ln/>
        </p:spPr>
      </p:sp>
      <p:sp>
        <p:nvSpPr>
          <p:cNvPr id="3" name="Text 1"/>
          <p:cNvSpPr/>
          <p:nvPr/>
        </p:nvSpPr>
        <p:spPr>
          <a:xfrm>
            <a:off x="1066773" y="1070927"/>
            <a:ext cx="5257668"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6F1DE"/>
                </a:solidFill>
                <a:latin typeface="Red Hat Text Bold" pitchFamily="34" charset="0"/>
                <a:ea typeface="Red Hat Text Bold" pitchFamily="34" charset="-122"/>
                <a:cs typeface="Red Hat Text Bold" pitchFamily="34" charset="-120"/>
              </a:rPr>
              <a:t>GREEN LOGISTICS HACKATHON PROJECT</a:t>
            </a:r>
            <a:endParaRPr lang="en-US" sz="1400" dirty="0"/>
          </a:p>
        </p:txBody>
      </p:sp>
      <p:sp>
        <p:nvSpPr>
          <p:cNvPr id="4" name="Text 2"/>
          <p:cNvSpPr/>
          <p:nvPr/>
        </p:nvSpPr>
        <p:spPr>
          <a:xfrm>
            <a:off x="1066773" y="1449772"/>
            <a:ext cx="4648084" cy="713184"/>
          </a:xfrm>
          <a:prstGeom prst="rect">
            <a:avLst/>
          </a:prstGeom>
          <a:noFill/>
          <a:ln/>
        </p:spPr>
        <p:txBody>
          <a:bodyPr wrap="none" lIns="0" tIns="0" rIns="0" bIns="0" rtlCol="0" anchor="t"/>
          <a:lstStyle/>
          <a:p>
            <a:pPr algn="l" indent="0" marL="0">
              <a:lnSpc>
                <a:spcPct val="87000"/>
              </a:lnSpc>
              <a:buNone/>
            </a:pPr>
            <a:r>
              <a:rPr lang="en-US" sz="5400" spc="-108" kern="100" dirty="0">
                <a:solidFill>
                  <a:srgbClr val="E4DEC8"/>
                </a:solidFill>
                <a:latin typeface="Host Grotesk ExtraBold" pitchFamily="34" charset="0"/>
                <a:ea typeface="Host Grotesk ExtraBold" pitchFamily="34" charset="-122"/>
                <a:cs typeface="Host Grotesk ExtraBold" pitchFamily="34" charset="-120"/>
              </a:rPr>
              <a:t>FreshRoute</a:t>
            </a:r>
            <a:endParaRPr lang="en-US" sz="5400" dirty="0"/>
          </a:p>
        </p:txBody>
      </p:sp>
      <p:sp>
        <p:nvSpPr>
          <p:cNvPr id="5" name="Text 3"/>
          <p:cNvSpPr/>
          <p:nvPr/>
        </p:nvSpPr>
        <p:spPr>
          <a:xfrm>
            <a:off x="1066773" y="2342725"/>
            <a:ext cx="4648084" cy="1042392"/>
          </a:xfrm>
          <a:prstGeom prst="rect">
            <a:avLst/>
          </a:prstGeom>
          <a:noFill/>
          <a:ln/>
        </p:spPr>
        <p:txBody>
          <a:bodyPr wrap="square" lIns="0" tIns="0" rIns="0" bIns="0" rtlCol="0" anchor="t">
            <a:normAutofit/>
          </a:bodyPr>
          <a:lstStyle/>
          <a:p>
            <a:pPr algn="l" indent="0" marL="0">
              <a:lnSpc>
                <a:spcPct val="90000"/>
              </a:lnSpc>
              <a:buNone/>
            </a:pPr>
            <a:r>
              <a:rPr lang="en-US" sz="3800" b="1" spc="-57" kern="100" dirty="0">
                <a:solidFill>
                  <a:srgbClr val="E4DEC8"/>
                </a:solidFill>
                <a:latin typeface="Host Grotesk Bold" pitchFamily="34" charset="0"/>
                <a:ea typeface="Host Grotesk Bold" pitchFamily="34" charset="-122"/>
                <a:cs typeface="Host Grotesk Bold" pitchFamily="34" charset="-120"/>
              </a:rPr>
              <a:t>Smart Food Logistics and Waste Reduction</a:t>
            </a:r>
            <a:endParaRPr lang="en-US" sz="3800" dirty="0"/>
          </a:p>
        </p:txBody>
      </p:sp>
      <p:sp>
        <p:nvSpPr>
          <p:cNvPr id="6" name="Shape 4"/>
          <p:cNvSpPr/>
          <p:nvPr/>
        </p:nvSpPr>
        <p:spPr>
          <a:xfrm>
            <a:off x="1066773" y="3629720"/>
            <a:ext cx="1162021" cy="50701"/>
          </a:xfrm>
          <a:prstGeom prst="roundRect">
            <a:avLst>
              <a:gd name="adj" fmla="val 49999"/>
            </a:avLst>
          </a:prstGeom>
          <a:solidFill>
            <a:srgbClr val="F2C230"/>
          </a:solidFill>
          <a:ln/>
        </p:spPr>
      </p:sp>
      <p:sp>
        <p:nvSpPr>
          <p:cNvPr id="7" name="Text 5"/>
          <p:cNvSpPr/>
          <p:nvPr/>
        </p:nvSpPr>
        <p:spPr>
          <a:xfrm>
            <a:off x="1066773" y="3941378"/>
            <a:ext cx="5257668" cy="315416"/>
          </a:xfrm>
          <a:prstGeom prst="rect">
            <a:avLst/>
          </a:prstGeom>
          <a:noFill/>
          <a:ln/>
        </p:spPr>
        <p:txBody>
          <a:bodyPr wrap="none" lIns="0" tIns="0" rIns="0" bIns="0" rtlCol="0" anchor="t"/>
          <a:lstStyle/>
          <a:p>
            <a:pPr algn="l" indent="0" marL="0">
              <a:lnSpc>
                <a:spcPct val="115000"/>
              </a:lnSpc>
              <a:buNone/>
            </a:pPr>
            <a:r>
              <a:rPr lang="en-US" sz="1800" dirty="0">
                <a:solidFill>
                  <a:srgbClr val="E4DEC8"/>
                </a:solidFill>
                <a:latin typeface="Red Hat Text" pitchFamily="34" charset="0"/>
                <a:ea typeface="Red Hat Text" pitchFamily="34" charset="-122"/>
                <a:cs typeface="Red Hat Text" pitchFamily="34" charset="-120"/>
              </a:rPr>
              <a:t>Deliver Fresh, Waste Less!</a:t>
            </a:r>
            <a:endParaRPr lang="en-US" sz="1800" dirty="0"/>
          </a:p>
        </p:txBody>
      </p:sp>
      <p:sp>
        <p:nvSpPr>
          <p:cNvPr id="8" name="Text 6"/>
          <p:cNvSpPr/>
          <p:nvPr/>
        </p:nvSpPr>
        <p:spPr>
          <a:xfrm>
            <a:off x="1066773" y="4461137"/>
            <a:ext cx="5257668" cy="234652"/>
          </a:xfrm>
          <a:prstGeom prst="rect">
            <a:avLst/>
          </a:prstGeom>
          <a:noFill/>
          <a:ln/>
        </p:spPr>
        <p:txBody>
          <a:bodyPr wrap="none" lIns="0" tIns="0" rIns="0" bIns="0" rtlCol="0" anchor="t"/>
          <a:lstStyle/>
          <a:p>
            <a:pPr algn="l" indent="0" marL="0">
              <a:lnSpc>
                <a:spcPct val="110000"/>
              </a:lnSpc>
              <a:buNone/>
            </a:pPr>
            <a:r>
              <a:rPr lang="en-US" sz="1400" spc="14" kern="100" dirty="0">
                <a:solidFill>
                  <a:srgbClr val="B9B39A"/>
                </a:solidFill>
                <a:latin typeface="Red Hat Text Medium" pitchFamily="34" charset="0"/>
                <a:ea typeface="Red Hat Text Medium" pitchFamily="34" charset="-122"/>
                <a:cs typeface="Red Hat Text Medium" pitchFamily="34" charset="-120"/>
              </a:rPr>
              <a:t>Reducing food waste through smarter delivery decisions</a:t>
            </a:r>
            <a:endParaRPr lang="en-US" sz="1400" dirty="0"/>
          </a:p>
        </p:txBody>
      </p:sp>
      <p:sp>
        <p:nvSpPr>
          <p:cNvPr id="9" name="Shape 7"/>
          <p:cNvSpPr/>
          <p:nvPr/>
        </p:nvSpPr>
        <p:spPr>
          <a:xfrm>
            <a:off x="7873803" y="5892800"/>
            <a:ext cx="3632109" cy="508000"/>
          </a:xfrm>
          <a:prstGeom prst="roundRect">
            <a:avLst>
              <a:gd name="adj" fmla="val 49999"/>
            </a:avLst>
          </a:prstGeom>
          <a:solidFill>
            <a:srgbClr val="283020"/>
          </a:solidFill>
          <a:ln/>
          <a:effectLst>
            <a:outerShdw sx="100000" sy="100000" kx="0" ky="0" algn="bl" rotWithShape="0" blurRad="125730" dist="24130" dir="5400000">
              <a:srgbClr val="f6f1de">
                <a:alpha val="10000"/>
              </a:srgbClr>
            </a:outerShdw>
          </a:effectLst>
        </p:spPr>
      </p:sp>
      <p:sp>
        <p:nvSpPr>
          <p:cNvPr id="10" name="Text 8"/>
          <p:cNvSpPr/>
          <p:nvPr/>
        </p:nvSpPr>
        <p:spPr>
          <a:xfrm>
            <a:off x="7467413" y="5997638"/>
            <a:ext cx="3835304" cy="234652"/>
          </a:xfrm>
          <a:prstGeom prst="rect">
            <a:avLst/>
          </a:prstGeom>
          <a:noFill/>
          <a:ln/>
        </p:spPr>
        <p:txBody>
          <a:bodyPr wrap="none" lIns="0" tIns="0" rIns="0" bIns="0" rtlCol="0" anchor="t"/>
          <a:lstStyle/>
          <a:p>
            <a:pPr algn="r" indent="0" marL="0">
              <a:lnSpc>
                <a:spcPct val="110000"/>
              </a:lnSpc>
              <a:buNone/>
            </a:pPr>
            <a:r>
              <a:rPr lang="en-US" sz="1400" b="1" spc="14" kern="100" dirty="0">
                <a:solidFill>
                  <a:srgbClr val="B9B39A"/>
                </a:solidFill>
                <a:latin typeface="Red Hat Text Bold" pitchFamily="34" charset="0"/>
                <a:ea typeface="Red Hat Text Bold" pitchFamily="34" charset="-122"/>
                <a:cs typeface="Red Hat Text Bold" pitchFamily="34" charset="-120"/>
              </a:rPr>
              <a:t>FreshRoute</a:t>
            </a:r>
            <a:pPr algn="r" indent="0" marL="0">
              <a:lnSpc>
                <a:spcPct val="110000"/>
              </a:lnSpc>
              <a:buNone/>
            </a:pPr>
            <a:r>
              <a:rPr lang="en-US" sz="1400" spc="14" kern="100" dirty="0">
                <a:solidFill>
                  <a:srgbClr val="B9B39A"/>
                </a:solidFill>
                <a:latin typeface="Red Hat Text Medium" pitchFamily="34" charset="0"/>
                <a:ea typeface="Red Hat Text Medium" pitchFamily="34" charset="-122"/>
                <a:cs typeface="Red Hat Text Medium" pitchFamily="34" charset="-120"/>
              </a:rPr>
              <a:t> · from supply to demand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4984" y="639127"/>
            <a:ext cx="5435464"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6F1DE"/>
                </a:solidFill>
                <a:latin typeface="Red Hat Text Bold" pitchFamily="34" charset="0"/>
                <a:ea typeface="Red Hat Text Bold" pitchFamily="34" charset="-122"/>
                <a:cs typeface="Red Hat Text Bold" pitchFamily="34" charset="-120"/>
              </a:rPr>
              <a:t>THE PROBLEM</a:t>
            </a:r>
            <a:endParaRPr lang="en-US" sz="1400" dirty="0"/>
          </a:p>
        </p:txBody>
      </p:sp>
      <p:sp>
        <p:nvSpPr>
          <p:cNvPr id="3" name="Text 1"/>
          <p:cNvSpPr/>
          <p:nvPr/>
        </p:nvSpPr>
        <p:spPr>
          <a:xfrm>
            <a:off x="634984" y="994541"/>
            <a:ext cx="4825879" cy="1563588"/>
          </a:xfrm>
          <a:prstGeom prst="rect">
            <a:avLst/>
          </a:prstGeom>
          <a:noFill/>
          <a:ln/>
        </p:spPr>
        <p:txBody>
          <a:bodyPr wrap="square" lIns="0" tIns="0" rIns="0" bIns="0" rtlCol="0" anchor="t">
            <a:normAutofit/>
          </a:bodyPr>
          <a:lstStyle/>
          <a:p>
            <a:pPr algn="l" indent="0" marL="0">
              <a:lnSpc>
                <a:spcPct val="90000"/>
              </a:lnSpc>
              <a:buNone/>
            </a:pPr>
            <a:r>
              <a:rPr lang="en-US" sz="3800" b="1" spc="-57" kern="100" dirty="0">
                <a:solidFill>
                  <a:srgbClr val="F6F1DE"/>
                </a:solidFill>
                <a:latin typeface="Host Grotesk Bold" pitchFamily="34" charset="0"/>
                <a:ea typeface="Host Grotesk Bold" pitchFamily="34" charset="-122"/>
                <a:cs typeface="Host Grotesk Bold" pitchFamily="34" charset="-120"/>
              </a:rPr>
              <a:t>Food can spoil before it reaches the customer</a:t>
            </a:r>
            <a:endParaRPr lang="en-US" sz="3800" dirty="0"/>
          </a:p>
        </p:txBody>
      </p:sp>
      <p:sp>
        <p:nvSpPr>
          <p:cNvPr id="4" name="Shape 2"/>
          <p:cNvSpPr/>
          <p:nvPr/>
        </p:nvSpPr>
        <p:spPr>
          <a:xfrm>
            <a:off x="634984" y="2802731"/>
            <a:ext cx="1206470" cy="50701"/>
          </a:xfrm>
          <a:prstGeom prst="roundRect">
            <a:avLst>
              <a:gd name="adj" fmla="val 49999"/>
            </a:avLst>
          </a:prstGeom>
          <a:solidFill>
            <a:srgbClr val="F2C230"/>
          </a:solidFill>
          <a:ln/>
        </p:spPr>
      </p:sp>
      <p:sp>
        <p:nvSpPr>
          <p:cNvPr id="5" name="Text 3"/>
          <p:cNvSpPr/>
          <p:nvPr/>
        </p:nvSpPr>
        <p:spPr>
          <a:xfrm>
            <a:off x="6730832" y="635000"/>
            <a:ext cx="2260543" cy="4587280"/>
          </a:xfrm>
          <a:prstGeom prst="rect">
            <a:avLst/>
          </a:prstGeom>
          <a:noFill/>
          <a:ln/>
        </p:spPr>
        <p:txBody>
          <a:bodyPr wrap="square" lIns="0" tIns="0" rIns="0" bIns="0" rtlCol="0" anchor="t">
            <a:normAutofit/>
          </a:bodyPr>
          <a:lstStyle/>
          <a:p>
            <a:pPr algn="l" marL="365760" indent="-365760">
              <a:lnSpc>
                <a:spcPct val="115000"/>
              </a:lnSpc>
              <a:buSzPct val="100000"/>
              <a:buChar char="•"/>
            </a:pPr>
            <a:r>
              <a:rPr lang="en-US" sz="1800" dirty="0">
                <a:solidFill>
                  <a:srgbClr val="E4DEC8"/>
                </a:solidFill>
                <a:latin typeface="Red Hat Text" pitchFamily="34" charset="0"/>
                <a:ea typeface="Red Hat Text" pitchFamily="34" charset="-122"/>
                <a:cs typeface="Red Hat Text" pitchFamily="34" charset="-120"/>
              </a:rPr>
              <a:t>Traffic and weak route planning delay perishable shipments</a:t>
            </a:r>
            <a:endParaRPr lang="en-US" sz="1800" dirty="0"/>
          </a:p>
          <a:p>
            <a:pPr algn="l" marL="365760" indent="-365760">
              <a:lnSpc>
                <a:spcPct val="115000"/>
              </a:lnSpc>
              <a:buSzPct val="100000"/>
              <a:buChar char="•"/>
            </a:pPr>
            <a:r>
              <a:rPr lang="en-US" sz="1800" dirty="0">
                <a:solidFill>
                  <a:srgbClr val="E4DEC8"/>
                </a:solidFill>
                <a:latin typeface="Red Hat Text" pitchFamily="34" charset="0"/>
                <a:ea typeface="Red Hat Text" pitchFamily="34" charset="-122"/>
                <a:cs typeface="Red Hat Text" pitchFamily="34" charset="-120"/>
              </a:rPr>
              <a:t>Improper storage conditions accelerate spoilage</a:t>
            </a:r>
            <a:endParaRPr lang="en-US" sz="1800" dirty="0"/>
          </a:p>
          <a:p>
            <a:pPr algn="l" marL="365760" indent="-365760">
              <a:lnSpc>
                <a:spcPct val="115000"/>
              </a:lnSpc>
              <a:buSzPct val="100000"/>
              <a:buChar char="•"/>
            </a:pPr>
            <a:r>
              <a:rPr lang="en-US" sz="1800" dirty="0">
                <a:solidFill>
                  <a:srgbClr val="E4DEC8"/>
                </a:solidFill>
                <a:latin typeface="Red Hat Text" pitchFamily="34" charset="0"/>
                <a:ea typeface="Red Hat Text" pitchFamily="34" charset="-122"/>
                <a:cs typeface="Red Hat Text" pitchFamily="34" charset="-120"/>
              </a:rPr>
              <a:t>Urgent deliveries compete with routine schedules</a:t>
            </a:r>
            <a:endParaRPr lang="en-US" sz="1800" dirty="0"/>
          </a:p>
          <a:p>
            <a:pPr algn="l" marL="365760" indent="-365760">
              <a:lnSpc>
                <a:spcPct val="115000"/>
              </a:lnSpc>
              <a:buSzPct val="100000"/>
              <a:buChar char="•"/>
            </a:pPr>
            <a:r>
              <a:rPr lang="en-US" sz="1800" dirty="0">
                <a:solidFill>
                  <a:srgbClr val="E4DEC8"/>
                </a:solidFill>
                <a:latin typeface="Red Hat Text" pitchFamily="34" charset="0"/>
                <a:ea typeface="Red Hat Text" pitchFamily="34" charset="-122"/>
                <a:cs typeface="Red Hat Text" pitchFamily="34" charset="-120"/>
              </a:rPr>
              <a:t>Surplus stock can sit near unmet demand</a:t>
            </a:r>
            <a:endParaRPr lang="en-US" sz="1800" dirty="0"/>
          </a:p>
        </p:txBody>
      </p:sp>
      <p:pic>
        <p:nvPicPr>
          <p:cNvPr id="6" name="Image 0" descr="preencoded.png">    </p:cNvPr>
          <p:cNvPicPr>
            <a:picLocks noChangeAspect="1"/>
          </p:cNvPicPr>
          <p:nvPr/>
        </p:nvPicPr>
        <p:blipFill>
          <a:blip r:embed="rId1"/>
          <a:stretch>
            <a:fillRect/>
          </a:stretch>
        </p:blipFill>
        <p:spPr>
          <a:xfrm>
            <a:off x="9296167" y="2519462"/>
            <a:ext cx="2260543" cy="818257"/>
          </a:xfrm>
          <a:prstGeom prst="rect">
            <a:avLst/>
          </a:prstGeom>
        </p:spPr>
      </p:pic>
      <p:sp>
        <p:nvSpPr>
          <p:cNvPr id="7" name="Text 4"/>
          <p:cNvSpPr/>
          <p:nvPr/>
        </p:nvSpPr>
        <p:spPr>
          <a:xfrm>
            <a:off x="9461295" y="2636388"/>
            <a:ext cx="1394599" cy="84857"/>
          </a:xfrm>
          <a:prstGeom prst="rect">
            <a:avLst/>
          </a:prstGeom>
          <a:noFill/>
          <a:ln/>
        </p:spPr>
        <p:txBody>
          <a:bodyPr wrap="none" lIns="0" tIns="0" rIns="0" bIns="0" rtlCol="0" anchor="t"/>
          <a:lstStyle/>
          <a:p>
            <a:pPr algn="l" indent="0" marL="0">
              <a:lnSpc>
                <a:spcPct val="107000"/>
              </a:lnSpc>
              <a:buNone/>
            </a:pPr>
            <a:r>
              <a:rPr lang="en-US" sz="500" b="1" spc="-8" kern="100" dirty="0">
                <a:solidFill>
                  <a:srgbClr val="FFFFFF"/>
                </a:solidFill>
                <a:latin typeface="Host Grotesk Bold" pitchFamily="34" charset="0"/>
                <a:ea typeface="Host Grotesk Bold" pitchFamily="34" charset="-122"/>
                <a:cs typeface="Host Grotesk Bold" pitchFamily="34" charset="-120"/>
              </a:rPr>
              <a:t>Farm Pickup</a:t>
            </a:r>
            <a:endParaRPr lang="en-US" sz="500" dirty="0"/>
          </a:p>
        </p:txBody>
      </p:sp>
      <p:sp>
        <p:nvSpPr>
          <p:cNvPr id="8" name="Text 5"/>
          <p:cNvSpPr/>
          <p:nvPr/>
        </p:nvSpPr>
        <p:spPr>
          <a:xfrm>
            <a:off x="9461295" y="2885026"/>
            <a:ext cx="1394599" cy="84857"/>
          </a:xfrm>
          <a:prstGeom prst="rect">
            <a:avLst/>
          </a:prstGeom>
          <a:noFill/>
          <a:ln/>
        </p:spPr>
        <p:txBody>
          <a:bodyPr wrap="none" lIns="0" tIns="0" rIns="0" bIns="0" rtlCol="0" anchor="t"/>
          <a:lstStyle/>
          <a:p>
            <a:pPr algn="l" indent="0" marL="0">
              <a:lnSpc>
                <a:spcPct val="107000"/>
              </a:lnSpc>
              <a:buNone/>
            </a:pPr>
            <a:r>
              <a:rPr lang="en-US" sz="500" b="1" spc="-8" kern="100" dirty="0">
                <a:solidFill>
                  <a:srgbClr val="FFFFFF"/>
                </a:solidFill>
                <a:latin typeface="Host Grotesk Bold" pitchFamily="34" charset="0"/>
                <a:ea typeface="Host Grotesk Bold" pitchFamily="34" charset="-122"/>
                <a:cs typeface="Host Grotesk Bold" pitchFamily="34" charset="-120"/>
              </a:rPr>
              <a:t>Warehouse Transfer</a:t>
            </a:r>
            <a:endParaRPr lang="en-US" sz="500" dirty="0"/>
          </a:p>
        </p:txBody>
      </p:sp>
      <p:sp>
        <p:nvSpPr>
          <p:cNvPr id="9" name="Text 6"/>
          <p:cNvSpPr/>
          <p:nvPr/>
        </p:nvSpPr>
        <p:spPr>
          <a:xfrm>
            <a:off x="9461295" y="3131404"/>
            <a:ext cx="1394599" cy="84857"/>
          </a:xfrm>
          <a:prstGeom prst="rect">
            <a:avLst/>
          </a:prstGeom>
          <a:noFill/>
          <a:ln/>
        </p:spPr>
        <p:txBody>
          <a:bodyPr wrap="none" lIns="0" tIns="0" rIns="0" bIns="0" rtlCol="0" anchor="t"/>
          <a:lstStyle/>
          <a:p>
            <a:pPr algn="l" indent="0" marL="0">
              <a:lnSpc>
                <a:spcPct val="107000"/>
              </a:lnSpc>
              <a:buNone/>
            </a:pPr>
            <a:r>
              <a:rPr lang="en-US" sz="500" b="1" spc="-8" kern="100" dirty="0">
                <a:solidFill>
                  <a:srgbClr val="FFFFFF"/>
                </a:solidFill>
                <a:latin typeface="Host Grotesk Bold" pitchFamily="34" charset="0"/>
                <a:ea typeface="Host Grotesk Bold" pitchFamily="34" charset="-122"/>
                <a:cs typeface="Host Grotesk Bold" pitchFamily="34" charset="-120"/>
              </a:rPr>
              <a:t>Retail Delivery</a:t>
            </a:r>
            <a:endParaRPr lang="en-US" sz="500" dirty="0"/>
          </a:p>
        </p:txBody>
      </p:sp>
      <p:sp>
        <p:nvSpPr>
          <p:cNvPr id="10" name="Text 7"/>
          <p:cNvSpPr/>
          <p:nvPr/>
        </p:nvSpPr>
        <p:spPr>
          <a:xfrm>
            <a:off x="6730832" y="5427575"/>
            <a:ext cx="4825879" cy="630833"/>
          </a:xfrm>
          <a:prstGeom prst="rect">
            <a:avLst/>
          </a:prstGeom>
          <a:noFill/>
          <a:ln/>
        </p:spPr>
        <p:txBody>
          <a:bodyPr wrap="square" lIns="0" tIns="0" rIns="0" bIns="0" rtlCol="0" anchor="t">
            <a:normAutofit/>
          </a:bodyPr>
          <a:lstStyle/>
          <a:p>
            <a:pPr algn="l" indent="0" marL="0">
              <a:lnSpc>
                <a:spcPct val="115000"/>
              </a:lnSpc>
              <a:buNone/>
            </a:pPr>
            <a:r>
              <a:rPr lang="en-US" sz="1800" b="1" dirty="0">
                <a:solidFill>
                  <a:srgbClr val="E4DEC8"/>
                </a:solidFill>
                <a:latin typeface="Red Hat Text Bold" pitchFamily="34" charset="0"/>
                <a:ea typeface="Red Hat Text Bold" pitchFamily="34" charset="-122"/>
                <a:cs typeface="Red Hat Text Bold" pitchFamily="34" charset="-120"/>
              </a:rPr>
              <a:t>Result:</a:t>
            </a:r>
            <a:pPr algn="l" indent="0" marL="0">
              <a:lnSpc>
                <a:spcPct val="115000"/>
              </a:lnSpc>
              <a:buNone/>
            </a:pPr>
            <a:r>
              <a:rPr lang="en-US" sz="1800" dirty="0">
                <a:solidFill>
                  <a:srgbClr val="E4DEC8"/>
                </a:solidFill>
                <a:latin typeface="Red Hat Text" pitchFamily="34" charset="0"/>
                <a:ea typeface="Red Hat Text" pitchFamily="34" charset="-122"/>
                <a:cs typeface="Red Hat Text" pitchFamily="34" charset="-120"/>
              </a:rPr>
              <a:t> avoidable food waste, financial loss, unnecessary travel, and higher emissions.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063898" cy="6858000"/>
          </a:xfrm>
          <a:custGeom>
            <a:avLst/>
            <a:gdLst/>
            <a:ahLst/>
            <a:cxnLst/>
            <a:rect l="l" t="t" r="r" b="b"/>
            <a:pathLst>
              <a:path w="4063898" h="6858000">
                <a:moveTo>
                  <a:pt x="126997" y="0"/>
                </a:moveTo>
                <a:lnTo>
                  <a:pt x="3251119" y="0"/>
                </a:lnTo>
                <a:arcTo hR="812800" wR="812779" stAng="16200000" swAng="5400000"/>
                <a:lnTo>
                  <a:pt x="4063898" y="6731000"/>
                </a:lnTo>
                <a:arcTo hR="127000" wR="126997" stAng="0" swAng="5400000"/>
                <a:lnTo>
                  <a:pt x="126997" y="6858000"/>
                </a:lnTo>
                <a:arcTo hR="127000" wR="126997" stAng="5400000" swAng="5400000"/>
                <a:lnTo>
                  <a:pt x="0" y="127000"/>
                </a:lnTo>
                <a:arcTo hR="127000" wR="126997" stAng="10800000" swAng="5400000"/>
                <a:close/>
              </a:path>
            </a:pathLst>
          </a:custGeom>
          <a:solidFill>
            <a:srgbClr val="0F4A48"/>
          </a:solidFill>
          <a:ln/>
        </p:spPr>
      </p:sp>
      <p:sp>
        <p:nvSpPr>
          <p:cNvPr id="3" name="Text 1"/>
          <p:cNvSpPr/>
          <p:nvPr/>
        </p:nvSpPr>
        <p:spPr>
          <a:xfrm>
            <a:off x="533387" y="1225510"/>
            <a:ext cx="3530512"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FFFFF"/>
                </a:solidFill>
                <a:latin typeface="Red Hat Text Bold" pitchFamily="34" charset="0"/>
                <a:ea typeface="Red Hat Text Bold" pitchFamily="34" charset="-122"/>
                <a:cs typeface="Red Hat Text Bold" pitchFamily="34" charset="-120"/>
              </a:rPr>
              <a:t>THE PRODUCT</a:t>
            </a:r>
            <a:endParaRPr lang="en-US" sz="1400" dirty="0"/>
          </a:p>
        </p:txBody>
      </p:sp>
      <p:sp>
        <p:nvSpPr>
          <p:cNvPr id="4" name="Text 2"/>
          <p:cNvSpPr/>
          <p:nvPr/>
        </p:nvSpPr>
        <p:spPr>
          <a:xfrm>
            <a:off x="533387" y="1580924"/>
            <a:ext cx="3098722" cy="2605980"/>
          </a:xfrm>
          <a:prstGeom prst="rect">
            <a:avLst/>
          </a:prstGeom>
          <a:noFill/>
          <a:ln/>
        </p:spPr>
        <p:txBody>
          <a:bodyPr wrap="square" lIns="0" tIns="0" rIns="0" bIns="0" rtlCol="0" anchor="t">
            <a:normAutofit/>
          </a:bodyPr>
          <a:lstStyle/>
          <a:p>
            <a:pPr algn="l" indent="0" marL="0">
              <a:lnSpc>
                <a:spcPct val="90000"/>
              </a:lnSpc>
              <a:buNone/>
            </a:pPr>
            <a:r>
              <a:rPr lang="en-US" sz="3800" b="1" spc="-57" kern="100" dirty="0">
                <a:solidFill>
                  <a:srgbClr val="FFFFFF"/>
                </a:solidFill>
                <a:latin typeface="Host Grotesk Bold" pitchFamily="34" charset="0"/>
                <a:ea typeface="Host Grotesk Bold" pitchFamily="34" charset="-122"/>
                <a:cs typeface="Host Grotesk Bold" pitchFamily="34" charset="-120"/>
              </a:rPr>
              <a:t>FreshRoute turns logistics data into better decisions</a:t>
            </a:r>
            <a:endParaRPr lang="en-US" sz="3800" dirty="0"/>
          </a:p>
        </p:txBody>
      </p:sp>
      <p:sp>
        <p:nvSpPr>
          <p:cNvPr id="5" name="Shape 3"/>
          <p:cNvSpPr/>
          <p:nvPr/>
        </p:nvSpPr>
        <p:spPr>
          <a:xfrm>
            <a:off x="533387" y="4431506"/>
            <a:ext cx="774581" cy="50701"/>
          </a:xfrm>
          <a:prstGeom prst="roundRect">
            <a:avLst>
              <a:gd name="adj" fmla="val 49999"/>
            </a:avLst>
          </a:prstGeom>
          <a:solidFill>
            <a:srgbClr val="F2C230"/>
          </a:solidFill>
          <a:ln/>
        </p:spPr>
      </p:sp>
      <p:sp>
        <p:nvSpPr>
          <p:cNvPr id="6" name="Text 4"/>
          <p:cNvSpPr/>
          <p:nvPr/>
        </p:nvSpPr>
        <p:spPr>
          <a:xfrm>
            <a:off x="533387" y="4743164"/>
            <a:ext cx="3098722" cy="946249"/>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FFFFFF"/>
                </a:solidFill>
                <a:latin typeface="Red Hat Text" pitchFamily="34" charset="0"/>
                <a:ea typeface="Red Hat Text" pitchFamily="34" charset="-122"/>
                <a:cs typeface="Red Hat Text" pitchFamily="34" charset="-120"/>
              </a:rPr>
              <a:t>One decision layer connects freshness, movement, and demand.</a:t>
            </a:r>
            <a:endParaRPr lang="en-US" sz="1800" dirty="0"/>
          </a:p>
        </p:txBody>
      </p:sp>
      <p:pic>
        <p:nvPicPr>
          <p:cNvPr id="7" name="Image 0" descr="preencoded.png">    </p:cNvPr>
          <p:cNvPicPr>
            <a:picLocks noChangeAspect="1"/>
          </p:cNvPicPr>
          <p:nvPr/>
        </p:nvPicPr>
        <p:blipFill>
          <a:blip r:embed="rId1"/>
          <a:stretch>
            <a:fillRect/>
          </a:stretch>
        </p:blipFill>
        <p:spPr>
          <a:xfrm>
            <a:off x="4571886" y="1787922"/>
            <a:ext cx="7111822" cy="3282156"/>
          </a:xfrm>
          <a:prstGeom prst="rect">
            <a:avLst/>
          </a:prstGeom>
        </p:spPr>
      </p:pic>
      <p:sp>
        <p:nvSpPr>
          <p:cNvPr id="8" name="Text 5"/>
          <p:cNvSpPr/>
          <p:nvPr/>
        </p:nvSpPr>
        <p:spPr>
          <a:xfrm>
            <a:off x="6741066" y="2042027"/>
            <a:ext cx="2787684" cy="266996"/>
          </a:xfrm>
          <a:prstGeom prst="rect">
            <a:avLst/>
          </a:prstGeom>
          <a:noFill/>
          <a:ln/>
        </p:spPr>
        <p:txBody>
          <a:bodyPr wrap="none" lIns="0" tIns="0" rIns="0" bIns="0" rtlCol="0" anchor="t"/>
          <a:lstStyle/>
          <a:p>
            <a:pPr algn="ctr" indent="0" marL="0">
              <a:lnSpc>
                <a:spcPct val="107000"/>
              </a:lnSpc>
              <a:buNone/>
            </a:pPr>
            <a:r>
              <a:rPr lang="en-US" sz="1650" b="1" spc="-25" kern="100" dirty="0">
                <a:solidFill>
                  <a:srgbClr val="FFFFFF"/>
                </a:solidFill>
                <a:latin typeface="Host Grotesk Bold" pitchFamily="34" charset="0"/>
                <a:ea typeface="Host Grotesk Bold" pitchFamily="34" charset="-122"/>
                <a:cs typeface="Host Grotesk Bold" pitchFamily="34" charset="-120"/>
              </a:rPr>
              <a:t>FreshRoute</a:t>
            </a:r>
            <a:endParaRPr lang="en-US" sz="1650" dirty="0"/>
          </a:p>
        </p:txBody>
      </p:sp>
      <p:sp>
        <p:nvSpPr>
          <p:cNvPr id="9" name="Text 6"/>
          <p:cNvSpPr/>
          <p:nvPr/>
        </p:nvSpPr>
        <p:spPr>
          <a:xfrm>
            <a:off x="4870660" y="3314037"/>
            <a:ext cx="1194637" cy="800988"/>
          </a:xfrm>
          <a:prstGeom prst="rect">
            <a:avLst/>
          </a:prstGeom>
          <a:noFill/>
          <a:ln/>
        </p:spPr>
        <p:txBody>
          <a:bodyPr wrap="square" lIns="0" tIns="0" rIns="0" bIns="0" rtlCol="0" anchor="t">
            <a:normAutofit/>
          </a:bodyPr>
          <a:lstStyle/>
          <a:p>
            <a:pPr algn="ctr" indent="0" marL="0">
              <a:lnSpc>
                <a:spcPct val="107000"/>
              </a:lnSpc>
              <a:buNone/>
            </a:pPr>
            <a:r>
              <a:rPr lang="en-US" sz="1650" b="1" spc="-25" kern="100" dirty="0">
                <a:solidFill>
                  <a:srgbClr val="E4DEC8"/>
                </a:solidFill>
                <a:latin typeface="Host Grotesk Bold" pitchFamily="34" charset="0"/>
                <a:ea typeface="Host Grotesk Bold" pitchFamily="34" charset="-122"/>
                <a:cs typeface="Host Grotesk Bold" pitchFamily="34" charset="-120"/>
              </a:rPr>
              <a:t>Smart Priority Delivery</a:t>
            </a:r>
            <a:endParaRPr lang="en-US" sz="1650" dirty="0"/>
          </a:p>
        </p:txBody>
      </p:sp>
      <p:sp>
        <p:nvSpPr>
          <p:cNvPr id="10" name="Text 7"/>
          <p:cNvSpPr/>
          <p:nvPr/>
        </p:nvSpPr>
        <p:spPr>
          <a:xfrm>
            <a:off x="4870660" y="4200665"/>
            <a:ext cx="1194637" cy="591184"/>
          </a:xfrm>
          <a:prstGeom prst="rect">
            <a:avLst/>
          </a:prstGeom>
          <a:noFill/>
          <a:ln/>
        </p:spPr>
        <p:txBody>
          <a:bodyPr wrap="square" lIns="0" tIns="0" rIns="0" bIns="0" rtlCol="0" anchor="t">
            <a:normAutofit/>
          </a:bodyPr>
          <a:lstStyle/>
          <a:p>
            <a:pPr algn="ctr" indent="0" marL="0">
              <a:lnSpc>
                <a:spcPct val="115000"/>
              </a:lnSpc>
              <a:buNone/>
            </a:pPr>
            <a:r>
              <a:rPr lang="en-US" sz="1100" dirty="0">
                <a:solidFill>
                  <a:srgbClr val="E4DEC8"/>
                </a:solidFill>
                <a:latin typeface="Red Hat Text" pitchFamily="34" charset="0"/>
                <a:ea typeface="Red Hat Text" pitchFamily="34" charset="-122"/>
                <a:cs typeface="Red Hat Text" pitchFamily="34" charset="-120"/>
              </a:rPr>
              <a:t>Automatically prioritize urgent shipments</a:t>
            </a:r>
            <a:endParaRPr lang="en-US" sz="1100" dirty="0"/>
          </a:p>
        </p:txBody>
      </p:sp>
      <p:pic>
        <p:nvPicPr>
          <p:cNvPr id="11" name="Image 1" descr="preencoded.png">    </p:cNvPr>
          <p:cNvPicPr>
            <a:picLocks noChangeAspect="1"/>
          </p:cNvPicPr>
          <p:nvPr/>
        </p:nvPicPr>
        <p:blipFill>
          <a:blip r:embed="rId2"/>
          <a:stretch>
            <a:fillRect/>
          </a:stretch>
        </p:blipFill>
        <p:spPr>
          <a:xfrm>
            <a:off x="5318630" y="3160536"/>
            <a:ext cx="298696" cy="298704"/>
          </a:xfrm>
          <a:prstGeom prst="rect">
            <a:avLst/>
          </a:prstGeom>
        </p:spPr>
      </p:pic>
      <p:sp>
        <p:nvSpPr>
          <p:cNvPr id="12" name="Text 8"/>
          <p:cNvSpPr/>
          <p:nvPr/>
        </p:nvSpPr>
        <p:spPr>
          <a:xfrm>
            <a:off x="6641502" y="3703567"/>
            <a:ext cx="1194636" cy="533991"/>
          </a:xfrm>
          <a:prstGeom prst="rect">
            <a:avLst/>
          </a:prstGeom>
          <a:noFill/>
          <a:ln/>
        </p:spPr>
        <p:txBody>
          <a:bodyPr wrap="square" lIns="0" tIns="0" rIns="0" bIns="0" rtlCol="0" anchor="t">
            <a:normAutofit/>
          </a:bodyPr>
          <a:lstStyle/>
          <a:p>
            <a:pPr algn="ctr" indent="0" marL="0">
              <a:lnSpc>
                <a:spcPct val="107000"/>
              </a:lnSpc>
              <a:buNone/>
            </a:pPr>
            <a:r>
              <a:rPr lang="en-US" sz="1650" b="1" spc="-25" kern="100" dirty="0">
                <a:solidFill>
                  <a:srgbClr val="E4DEC8"/>
                </a:solidFill>
                <a:latin typeface="Host Grotesk Bold" pitchFamily="34" charset="0"/>
                <a:ea typeface="Host Grotesk Bold" pitchFamily="34" charset="-122"/>
                <a:cs typeface="Host Grotesk Bold" pitchFamily="34" charset="-120"/>
              </a:rPr>
              <a:t>Spoilage-Risk Alerts</a:t>
            </a:r>
            <a:endParaRPr lang="en-US" sz="1650" dirty="0"/>
          </a:p>
        </p:txBody>
      </p:sp>
      <p:sp>
        <p:nvSpPr>
          <p:cNvPr id="13" name="Text 9"/>
          <p:cNvSpPr/>
          <p:nvPr/>
        </p:nvSpPr>
        <p:spPr>
          <a:xfrm>
            <a:off x="6641502" y="4323199"/>
            <a:ext cx="1194636" cy="591184"/>
          </a:xfrm>
          <a:prstGeom prst="rect">
            <a:avLst/>
          </a:prstGeom>
          <a:noFill/>
          <a:ln/>
        </p:spPr>
        <p:txBody>
          <a:bodyPr wrap="square" lIns="0" tIns="0" rIns="0" bIns="0" rtlCol="0" anchor="t">
            <a:normAutofit/>
          </a:bodyPr>
          <a:lstStyle/>
          <a:p>
            <a:pPr algn="ctr" indent="0" marL="0">
              <a:lnSpc>
                <a:spcPct val="115000"/>
              </a:lnSpc>
              <a:buNone/>
            </a:pPr>
            <a:r>
              <a:rPr lang="en-US" sz="1100" dirty="0">
                <a:solidFill>
                  <a:srgbClr val="E4DEC8"/>
                </a:solidFill>
                <a:latin typeface="Red Hat Text" pitchFamily="34" charset="0"/>
                <a:ea typeface="Red Hat Text" pitchFamily="34" charset="-122"/>
                <a:cs typeface="Red Hat Text" pitchFamily="34" charset="-120"/>
              </a:rPr>
              <a:t>Real-time warnings for at-risk goods</a:t>
            </a:r>
            <a:endParaRPr lang="en-US" sz="1100" dirty="0"/>
          </a:p>
        </p:txBody>
      </p:sp>
      <p:pic>
        <p:nvPicPr>
          <p:cNvPr id="14" name="Image 2" descr="preencoded.png">    </p:cNvPr>
          <p:cNvPicPr>
            <a:picLocks noChangeAspect="1"/>
          </p:cNvPicPr>
          <p:nvPr/>
        </p:nvPicPr>
        <p:blipFill>
          <a:blip r:embed="rId3"/>
          <a:stretch>
            <a:fillRect/>
          </a:stretch>
        </p:blipFill>
        <p:spPr>
          <a:xfrm>
            <a:off x="7089472" y="3381008"/>
            <a:ext cx="298696" cy="298704"/>
          </a:xfrm>
          <a:prstGeom prst="rect">
            <a:avLst/>
          </a:prstGeom>
        </p:spPr>
      </p:pic>
      <p:sp>
        <p:nvSpPr>
          <p:cNvPr id="15" name="Text 10"/>
          <p:cNvSpPr/>
          <p:nvPr/>
        </p:nvSpPr>
        <p:spPr>
          <a:xfrm>
            <a:off x="8426567" y="3787873"/>
            <a:ext cx="1194637" cy="533992"/>
          </a:xfrm>
          <a:prstGeom prst="rect">
            <a:avLst/>
          </a:prstGeom>
          <a:noFill/>
          <a:ln/>
        </p:spPr>
        <p:txBody>
          <a:bodyPr wrap="square" lIns="0" tIns="0" rIns="0" bIns="0" rtlCol="0" anchor="t">
            <a:normAutofit/>
          </a:bodyPr>
          <a:lstStyle/>
          <a:p>
            <a:pPr algn="ctr" indent="0" marL="0">
              <a:lnSpc>
                <a:spcPct val="107000"/>
              </a:lnSpc>
              <a:buNone/>
            </a:pPr>
            <a:r>
              <a:rPr lang="en-US" sz="1650" b="1" spc="-25" kern="100" dirty="0">
                <a:solidFill>
                  <a:srgbClr val="E4DEC8"/>
                </a:solidFill>
                <a:latin typeface="Host Grotesk Bold" pitchFamily="34" charset="0"/>
                <a:ea typeface="Host Grotesk Bold" pitchFamily="34" charset="-122"/>
                <a:cs typeface="Host Grotesk Bold" pitchFamily="34" charset="-120"/>
              </a:rPr>
              <a:t>Green Route Planning</a:t>
            </a:r>
            <a:endParaRPr lang="en-US" sz="1650" dirty="0"/>
          </a:p>
        </p:txBody>
      </p:sp>
      <p:sp>
        <p:nvSpPr>
          <p:cNvPr id="16" name="Text 11"/>
          <p:cNvSpPr/>
          <p:nvPr/>
        </p:nvSpPr>
        <p:spPr>
          <a:xfrm>
            <a:off x="8426567" y="4407506"/>
            <a:ext cx="1194637" cy="394123"/>
          </a:xfrm>
          <a:prstGeom prst="rect">
            <a:avLst/>
          </a:prstGeom>
          <a:noFill/>
          <a:ln/>
        </p:spPr>
        <p:txBody>
          <a:bodyPr wrap="square" lIns="0" tIns="0" rIns="0" bIns="0" rtlCol="0" anchor="t">
            <a:normAutofit/>
          </a:bodyPr>
          <a:lstStyle/>
          <a:p>
            <a:pPr algn="ctr" indent="0" marL="0">
              <a:lnSpc>
                <a:spcPct val="115000"/>
              </a:lnSpc>
              <a:buNone/>
            </a:pPr>
            <a:r>
              <a:rPr lang="en-US" sz="1100" dirty="0">
                <a:solidFill>
                  <a:srgbClr val="E4DEC8"/>
                </a:solidFill>
                <a:latin typeface="Red Hat Text" pitchFamily="34" charset="0"/>
                <a:ea typeface="Red Hat Text" pitchFamily="34" charset="-122"/>
                <a:cs typeface="Red Hat Text" pitchFamily="34" charset="-120"/>
              </a:rPr>
              <a:t>Optimize for lower emissions</a:t>
            </a:r>
            <a:endParaRPr lang="en-US" sz="1100" dirty="0"/>
          </a:p>
        </p:txBody>
      </p:sp>
      <p:pic>
        <p:nvPicPr>
          <p:cNvPr id="17" name="Image 3" descr="preencoded.png">    </p:cNvPr>
          <p:cNvPicPr>
            <a:picLocks noChangeAspect="1"/>
          </p:cNvPicPr>
          <p:nvPr/>
        </p:nvPicPr>
        <p:blipFill>
          <a:blip r:embed="rId4"/>
          <a:stretch>
            <a:fillRect/>
          </a:stretch>
        </p:blipFill>
        <p:spPr>
          <a:xfrm>
            <a:off x="8860313" y="3366784"/>
            <a:ext cx="298697" cy="298704"/>
          </a:xfrm>
          <a:prstGeom prst="rect">
            <a:avLst/>
          </a:prstGeom>
        </p:spPr>
      </p:pic>
      <p:sp>
        <p:nvSpPr>
          <p:cNvPr id="18" name="Text 12"/>
          <p:cNvSpPr/>
          <p:nvPr/>
        </p:nvSpPr>
        <p:spPr>
          <a:xfrm>
            <a:off x="10183186" y="3441016"/>
            <a:ext cx="1194637" cy="800988"/>
          </a:xfrm>
          <a:prstGeom prst="rect">
            <a:avLst/>
          </a:prstGeom>
          <a:noFill/>
          <a:ln/>
        </p:spPr>
        <p:txBody>
          <a:bodyPr wrap="square" lIns="0" tIns="0" rIns="0" bIns="0" rtlCol="0" anchor="t">
            <a:normAutofit/>
          </a:bodyPr>
          <a:lstStyle/>
          <a:p>
            <a:pPr algn="ctr" indent="0" marL="0">
              <a:lnSpc>
                <a:spcPct val="107000"/>
              </a:lnSpc>
              <a:buNone/>
            </a:pPr>
            <a:r>
              <a:rPr lang="en-US" sz="1650" b="1" spc="-25" kern="100" dirty="0">
                <a:solidFill>
                  <a:srgbClr val="E4DEC8"/>
                </a:solidFill>
                <a:latin typeface="Host Grotesk Bold" pitchFamily="34" charset="0"/>
                <a:ea typeface="Host Grotesk Bold" pitchFamily="34" charset="-122"/>
                <a:cs typeface="Host Grotesk Bold" pitchFamily="34" charset="-120"/>
              </a:rPr>
              <a:t>Nearby Demand Matching</a:t>
            </a:r>
            <a:endParaRPr lang="en-US" sz="1650" dirty="0"/>
          </a:p>
        </p:txBody>
      </p:sp>
      <p:sp>
        <p:nvSpPr>
          <p:cNvPr id="19" name="Text 13"/>
          <p:cNvSpPr/>
          <p:nvPr/>
        </p:nvSpPr>
        <p:spPr>
          <a:xfrm>
            <a:off x="10183186" y="4327644"/>
            <a:ext cx="1194637" cy="394123"/>
          </a:xfrm>
          <a:prstGeom prst="rect">
            <a:avLst/>
          </a:prstGeom>
          <a:noFill/>
          <a:ln/>
        </p:spPr>
        <p:txBody>
          <a:bodyPr wrap="square" lIns="0" tIns="0" rIns="0" bIns="0" rtlCol="0" anchor="t">
            <a:normAutofit/>
          </a:bodyPr>
          <a:lstStyle/>
          <a:p>
            <a:pPr algn="ctr" indent="0" marL="0">
              <a:lnSpc>
                <a:spcPct val="115000"/>
              </a:lnSpc>
              <a:buNone/>
            </a:pPr>
            <a:r>
              <a:rPr lang="en-US" sz="1100" dirty="0">
                <a:solidFill>
                  <a:srgbClr val="E4DEC8"/>
                </a:solidFill>
                <a:latin typeface="Red Hat Text" pitchFamily="34" charset="0"/>
                <a:ea typeface="Red Hat Text" pitchFamily="34" charset="-122"/>
                <a:cs typeface="Red Hat Text" pitchFamily="34" charset="-120"/>
              </a:rPr>
              <a:t>Find local buyers en route</a:t>
            </a:r>
            <a:endParaRPr lang="en-US" sz="1100" dirty="0"/>
          </a:p>
        </p:txBody>
      </p:sp>
      <p:pic>
        <p:nvPicPr>
          <p:cNvPr id="20" name="Image 4" descr="preencoded.png">    </p:cNvPr>
          <p:cNvPicPr>
            <a:picLocks noChangeAspect="1"/>
          </p:cNvPicPr>
          <p:nvPr/>
        </p:nvPicPr>
        <p:blipFill>
          <a:blip r:embed="rId5"/>
          <a:stretch>
            <a:fillRect/>
          </a:stretch>
        </p:blipFill>
        <p:spPr>
          <a:xfrm>
            <a:off x="10638267" y="3167648"/>
            <a:ext cx="298696" cy="2987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4984" y="435927"/>
            <a:ext cx="11531312"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6F1DE"/>
                </a:solidFill>
                <a:latin typeface="Red Hat Text Bold" pitchFamily="34" charset="0"/>
                <a:ea typeface="Red Hat Text Bold" pitchFamily="34" charset="-122"/>
                <a:cs typeface="Red Hat Text Bold" pitchFamily="34" charset="-120"/>
              </a:rPr>
              <a:t>THE WORKFLOW</a:t>
            </a:r>
            <a:endParaRPr lang="en-US" sz="1400" dirty="0"/>
          </a:p>
        </p:txBody>
      </p:sp>
      <p:sp>
        <p:nvSpPr>
          <p:cNvPr id="3" name="Text 1"/>
          <p:cNvSpPr/>
          <p:nvPr/>
        </p:nvSpPr>
        <p:spPr>
          <a:xfrm>
            <a:off x="634984" y="791341"/>
            <a:ext cx="10921727" cy="521196"/>
          </a:xfrm>
          <a:prstGeom prst="rect">
            <a:avLst/>
          </a:prstGeom>
          <a:noFill/>
          <a:ln/>
        </p:spPr>
        <p:txBody>
          <a:bodyPr wrap="none" lIns="0" tIns="0" rIns="0" bIns="0" rtlCol="0" anchor="t"/>
          <a:lstStyle/>
          <a:p>
            <a:pPr algn="l" indent="0" marL="0">
              <a:lnSpc>
                <a:spcPct val="90000"/>
              </a:lnSpc>
              <a:buNone/>
            </a:pPr>
            <a:r>
              <a:rPr lang="en-US" sz="3800" b="1" spc="-57" kern="100" dirty="0">
                <a:solidFill>
                  <a:srgbClr val="F6F1DE"/>
                </a:solidFill>
                <a:latin typeface="Host Grotesk Bold" pitchFamily="34" charset="0"/>
                <a:ea typeface="Host Grotesk Bold" pitchFamily="34" charset="-122"/>
                <a:cs typeface="Host Grotesk Bold" pitchFamily="34" charset="-120"/>
              </a:rPr>
              <a:t>One workflow connects the decisions</a:t>
            </a:r>
            <a:endParaRPr lang="en-US" sz="3800" dirty="0"/>
          </a:p>
        </p:txBody>
      </p:sp>
      <p:sp>
        <p:nvSpPr>
          <p:cNvPr id="4" name="Shape 2"/>
          <p:cNvSpPr/>
          <p:nvPr/>
        </p:nvSpPr>
        <p:spPr>
          <a:xfrm>
            <a:off x="634984" y="1557139"/>
            <a:ext cx="2730432" cy="50701"/>
          </a:xfrm>
          <a:prstGeom prst="roundRect">
            <a:avLst>
              <a:gd name="adj" fmla="val 49999"/>
            </a:avLst>
          </a:prstGeom>
          <a:solidFill>
            <a:srgbClr val="F2C230"/>
          </a:solidFill>
          <a:ln/>
        </p:spPr>
      </p:sp>
      <p:sp>
        <p:nvSpPr>
          <p:cNvPr id="5" name="Text 3"/>
          <p:cNvSpPr/>
          <p:nvPr/>
        </p:nvSpPr>
        <p:spPr>
          <a:xfrm>
            <a:off x="634984" y="1866702"/>
            <a:ext cx="10921727" cy="1805682"/>
          </a:xfrm>
          <a:prstGeom prst="rect">
            <a:avLst/>
          </a:prstGeom>
          <a:noFill/>
          <a:ln/>
        </p:spPr>
        <p:txBody>
          <a:bodyPr wrap="square" lIns="0" tIns="0" rIns="0" bIns="0" rtlCol="0" anchor="t">
            <a:normAutofit/>
          </a:bodyPr>
          <a:lstStyle/>
          <a:p>
            <a:pPr algn="l" marL="365760" indent="-365760">
              <a:lnSpc>
                <a:spcPct val="115000"/>
              </a:lnSpc>
              <a:buSzPct val="100000"/>
              <a:buFont typeface="+mj-lt"/>
              <a:buAutoNum type="arabicPeriod" startAt="1"/>
            </a:pPr>
            <a:r>
              <a:rPr lang="en-US" sz="1800" b="1" dirty="0">
                <a:solidFill>
                  <a:srgbClr val="E4DEC8"/>
                </a:solidFill>
                <a:latin typeface="Red Hat Text Bold" pitchFamily="34" charset="0"/>
                <a:ea typeface="Red Hat Text Bold" pitchFamily="34" charset="-122"/>
                <a:cs typeface="Red Hat Text Bold" pitchFamily="34" charset="-120"/>
              </a:rPr>
              <a:t>Capture:</a:t>
            </a:r>
            <a:pPr algn="l" marL="365760" indent="-365760">
              <a:lnSpc>
                <a:spcPct val="115000"/>
              </a:lnSpc>
              <a:buSzPct val="100000"/>
              <a:buFont typeface="+mj-lt"/>
              <a:buAutoNum type="arabicPeriod" startAt="1"/>
            </a:pPr>
            <a:r>
              <a:rPr lang="en-US" sz="1800" dirty="0">
                <a:solidFill>
                  <a:srgbClr val="E4DEC8"/>
                </a:solidFill>
                <a:latin typeface="Red Hat Text" pitchFamily="34" charset="0"/>
                <a:ea typeface="Red Hat Text" pitchFamily="34" charset="-122"/>
                <a:cs typeface="Red Hat Text" pitchFamily="34" charset="-120"/>
              </a:rPr>
              <a:t> Enter shipment, destination, deadline, and storage information.</a:t>
            </a:r>
            <a:endParaRPr lang="en-US" sz="1800" dirty="0"/>
          </a:p>
          <a:p>
            <a:pPr algn="l" marL="365760" indent="-365760">
              <a:lnSpc>
                <a:spcPct val="115000"/>
              </a:lnSpc>
              <a:buSzPct val="100000"/>
              <a:buFont typeface="+mj-lt"/>
              <a:buAutoNum type="arabicPeriod" startAt="2"/>
            </a:pPr>
            <a:r>
              <a:rPr lang="en-US" sz="1800" b="1" dirty="0">
                <a:solidFill>
                  <a:srgbClr val="E4DEC8"/>
                </a:solidFill>
                <a:latin typeface="Red Hat Text Bold" pitchFamily="34" charset="0"/>
                <a:ea typeface="Red Hat Text Bold" pitchFamily="34" charset="-122"/>
                <a:cs typeface="Red Hat Text Bold" pitchFamily="34" charset="-120"/>
              </a:rPr>
              <a:t>Analyze:</a:t>
            </a:r>
            <a:pPr algn="l" marL="365760" indent="-365760">
              <a:lnSpc>
                <a:spcPct val="115000"/>
              </a:lnSpc>
              <a:buSzPct val="100000"/>
              <a:buFont typeface="+mj-lt"/>
              <a:buAutoNum type="arabicPeriod" startAt="2"/>
            </a:pPr>
            <a:r>
              <a:rPr lang="en-US" sz="1800" dirty="0">
                <a:solidFill>
                  <a:srgbClr val="E4DEC8"/>
                </a:solidFill>
                <a:latin typeface="Red Hat Text" pitchFamily="34" charset="0"/>
                <a:ea typeface="Red Hat Text" pitchFamily="34" charset="-122"/>
                <a:cs typeface="Red Hat Text" pitchFamily="34" charset="-120"/>
              </a:rPr>
              <a:t> Analyze food type, expected shelf life, travel time, and requirements.</a:t>
            </a:r>
            <a:endParaRPr lang="en-US" sz="1800" dirty="0"/>
          </a:p>
          <a:p>
            <a:pPr algn="l" marL="365760" indent="-365760">
              <a:lnSpc>
                <a:spcPct val="115000"/>
              </a:lnSpc>
              <a:buSzPct val="100000"/>
              <a:buFont typeface="+mj-lt"/>
              <a:buAutoNum type="arabicPeriod" startAt="3"/>
            </a:pPr>
            <a:r>
              <a:rPr lang="en-US" sz="1800" b="1" dirty="0">
                <a:solidFill>
                  <a:srgbClr val="E4DEC8"/>
                </a:solidFill>
                <a:latin typeface="Red Hat Text Bold" pitchFamily="34" charset="0"/>
                <a:ea typeface="Red Hat Text Bold" pitchFamily="34" charset="-122"/>
                <a:cs typeface="Red Hat Text Bold" pitchFamily="34" charset="-120"/>
              </a:rPr>
              <a:t>Prioritize:</a:t>
            </a:r>
            <a:pPr algn="l" marL="365760" indent="-365760">
              <a:lnSpc>
                <a:spcPct val="115000"/>
              </a:lnSpc>
              <a:buSzPct val="100000"/>
              <a:buFont typeface="+mj-lt"/>
              <a:buAutoNum type="arabicPeriod" startAt="3"/>
            </a:pPr>
            <a:r>
              <a:rPr lang="en-US" sz="1800" dirty="0">
                <a:solidFill>
                  <a:srgbClr val="E4DEC8"/>
                </a:solidFill>
                <a:latin typeface="Red Hat Text" pitchFamily="34" charset="0"/>
                <a:ea typeface="Red Hat Text" pitchFamily="34" charset="-122"/>
                <a:cs typeface="Red Hat Text" pitchFamily="34" charset="-120"/>
              </a:rPr>
              <a:t> Identify spoilage risks and assign delivery priority.</a:t>
            </a:r>
            <a:endParaRPr lang="en-US" sz="1800" dirty="0"/>
          </a:p>
          <a:p>
            <a:pPr algn="l" marL="365760" indent="-365760">
              <a:lnSpc>
                <a:spcPct val="115000"/>
              </a:lnSpc>
              <a:buSzPct val="100000"/>
              <a:buFont typeface="+mj-lt"/>
              <a:buAutoNum type="arabicPeriod" startAt="4"/>
            </a:pPr>
            <a:r>
              <a:rPr lang="en-US" sz="1800" b="1" dirty="0">
                <a:solidFill>
                  <a:srgbClr val="E4DEC8"/>
                </a:solidFill>
                <a:latin typeface="Red Hat Text Bold" pitchFamily="34" charset="0"/>
                <a:ea typeface="Red Hat Text Bold" pitchFamily="34" charset="-122"/>
                <a:cs typeface="Red Hat Text Bold" pitchFamily="34" charset="-120"/>
              </a:rPr>
              <a:t>Route &amp; alert:</a:t>
            </a:r>
            <a:pPr algn="l" marL="365760" indent="-365760">
              <a:lnSpc>
                <a:spcPct val="115000"/>
              </a:lnSpc>
              <a:buSzPct val="100000"/>
              <a:buFont typeface="+mj-lt"/>
              <a:buAutoNum type="arabicPeriod" startAt="4"/>
            </a:pPr>
            <a:r>
              <a:rPr lang="en-US" sz="1800" dirty="0">
                <a:solidFill>
                  <a:srgbClr val="E4DEC8"/>
                </a:solidFill>
                <a:latin typeface="Red Hat Text" pitchFamily="34" charset="0"/>
                <a:ea typeface="Red Hat Text" pitchFamily="34" charset="-122"/>
                <a:cs typeface="Red Hat Text" pitchFamily="34" charset="-120"/>
              </a:rPr>
              <a:t> Recommend a route and notify the logistics manager about storage risks.</a:t>
            </a:r>
            <a:endParaRPr lang="en-US" sz="1800" dirty="0"/>
          </a:p>
          <a:p>
            <a:pPr algn="l" marL="365760" indent="-365760">
              <a:lnSpc>
                <a:spcPct val="115000"/>
              </a:lnSpc>
              <a:buSzPct val="100000"/>
              <a:buFont typeface="+mj-lt"/>
              <a:buAutoNum type="arabicPeriod" startAt="5"/>
            </a:pPr>
            <a:r>
              <a:rPr lang="en-US" sz="1800" b="1" dirty="0">
                <a:solidFill>
                  <a:srgbClr val="E4DEC8"/>
                </a:solidFill>
                <a:latin typeface="Red Hat Text Bold" pitchFamily="34" charset="0"/>
                <a:ea typeface="Red Hat Text Bold" pitchFamily="34" charset="-122"/>
                <a:cs typeface="Red Hat Text Bold" pitchFamily="34" charset="-120"/>
              </a:rPr>
              <a:t>Match:</a:t>
            </a:r>
            <a:pPr algn="l" marL="365760" indent="-365760">
              <a:lnSpc>
                <a:spcPct val="115000"/>
              </a:lnSpc>
              <a:buSzPct val="100000"/>
              <a:buFont typeface="+mj-lt"/>
              <a:buAutoNum type="arabicPeriod" startAt="5"/>
            </a:pPr>
            <a:r>
              <a:rPr lang="en-US" sz="1800" dirty="0">
                <a:solidFill>
                  <a:srgbClr val="E4DEC8"/>
                </a:solidFill>
                <a:latin typeface="Red Hat Text" pitchFamily="34" charset="0"/>
                <a:ea typeface="Red Hat Text" pitchFamily="34" charset="-122"/>
                <a:cs typeface="Red Hat Text" pitchFamily="34" charset="-120"/>
              </a:rPr>
              <a:t> Match eligible surplus food with nearby demand.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4984" y="435927"/>
            <a:ext cx="11531312"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6F1DE"/>
                </a:solidFill>
                <a:latin typeface="Red Hat Text Bold" pitchFamily="34" charset="0"/>
                <a:ea typeface="Red Hat Text Bold" pitchFamily="34" charset="-122"/>
                <a:cs typeface="Red Hat Text Bold" pitchFamily="34" charset="-120"/>
              </a:rPr>
              <a:t>WHY IT IS DIFFERENT</a:t>
            </a:r>
            <a:endParaRPr lang="en-US" sz="1400" dirty="0"/>
          </a:p>
        </p:txBody>
      </p:sp>
      <p:sp>
        <p:nvSpPr>
          <p:cNvPr id="3" name="Text 1"/>
          <p:cNvSpPr/>
          <p:nvPr/>
        </p:nvSpPr>
        <p:spPr>
          <a:xfrm>
            <a:off x="634984" y="791341"/>
            <a:ext cx="10921727" cy="521196"/>
          </a:xfrm>
          <a:prstGeom prst="rect">
            <a:avLst/>
          </a:prstGeom>
          <a:noFill/>
          <a:ln/>
        </p:spPr>
        <p:txBody>
          <a:bodyPr wrap="none" lIns="0" tIns="0" rIns="0" bIns="0" rtlCol="0" anchor="t"/>
          <a:lstStyle/>
          <a:p>
            <a:pPr algn="l" indent="0" marL="0">
              <a:lnSpc>
                <a:spcPct val="90000"/>
              </a:lnSpc>
              <a:buNone/>
            </a:pPr>
            <a:r>
              <a:rPr lang="en-US" sz="3800" b="1" spc="-57" kern="100" dirty="0">
                <a:solidFill>
                  <a:srgbClr val="F6F1DE"/>
                </a:solidFill>
                <a:latin typeface="Host Grotesk Bold" pitchFamily="34" charset="0"/>
                <a:ea typeface="Host Grotesk Bold" pitchFamily="34" charset="-122"/>
                <a:cs typeface="Host Grotesk Bold" pitchFamily="34" charset="-120"/>
              </a:rPr>
              <a:t>FreshRoute coordinates risk, routes, and demand</a:t>
            </a:r>
            <a:endParaRPr lang="en-US" sz="3800" dirty="0"/>
          </a:p>
        </p:txBody>
      </p:sp>
      <p:sp>
        <p:nvSpPr>
          <p:cNvPr id="4" name="Shape 2"/>
          <p:cNvSpPr/>
          <p:nvPr/>
        </p:nvSpPr>
        <p:spPr>
          <a:xfrm>
            <a:off x="634984" y="1557139"/>
            <a:ext cx="2730432" cy="50701"/>
          </a:xfrm>
          <a:prstGeom prst="roundRect">
            <a:avLst>
              <a:gd name="adj" fmla="val 49999"/>
            </a:avLst>
          </a:prstGeom>
          <a:solidFill>
            <a:srgbClr val="F2C230"/>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4984" y="1866702"/>
          <a:ext cx="10921727" cy="914400"/>
        </p:xfrm>
        <a:graphic>
          <a:graphicData uri="http://schemas.openxmlformats.org/drawingml/2006/table">
            <a:tbl>
              <a:tblPr/>
              <a:tblGrid>
                <a:gridCol w="2451733"/>
                <a:gridCol w="4234947"/>
                <a:gridCol w="4235046"/>
              </a:tblGrid>
              <a:tr h="510865">
                <a:tc>
                  <a:txBody>
                    <a:bodyPr/>
                    <a:lstStyle/>
                    <a:p>
                      <a:pPr algn="l" indent="0" marL="0">
                        <a:buNone/>
                      </a:pPr>
                      <a:r>
                        <a:rPr lang="en-US" sz="1800" dirty="0">
                          <a:solidFill>
                            <a:srgbClr val="FFFFFF"/>
                          </a:solidFill>
                          <a:latin typeface="Red Hat Text" pitchFamily="34" charset="0"/>
                          <a:ea typeface="Red Hat Text" pitchFamily="34" charset="-122"/>
                          <a:cs typeface="Red Hat Text" pitchFamily="34" charset="-120"/>
                        </a:rPr>
                        <a:t>Decision area</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0F4A48"/>
                      </a:solidFill>
                      <a:prstDash val="solid"/>
                      <a:round/>
                      <a:headEnd type="none" w="med" len="med"/>
                      <a:tailEnd type="none" w="med" len="med"/>
                    </a:lnL>
                    <a:lnR w="12700" cap="flat" cmpd="sng" algn="ctr">
                      <a:solidFill>
                        <a:srgbClr val="0F4A48"/>
                      </a:solidFill>
                      <a:prstDash val="solid"/>
                      <a:round/>
                      <a:headEnd type="none" w="med" len="med"/>
                      <a:tailEnd type="none" w="med" len="med"/>
                    </a:lnR>
                    <a:lnT w="12700" cap="flat" cmpd="sng" algn="ctr">
                      <a:solidFill>
                        <a:srgbClr val="0F4A48"/>
                      </a:solidFill>
                      <a:prstDash val="solid"/>
                      <a:round/>
                      <a:headEnd type="none" w="med" len="med"/>
                      <a:tailEnd type="none" w="med" len="med"/>
                    </a:lnT>
                    <a:lnB w="12700" cap="flat" cmpd="sng" algn="ctr">
                      <a:solidFill>
                        <a:srgbClr val="3A4330"/>
                      </a:solidFill>
                      <a:prstDash val="solid"/>
                      <a:round/>
                      <a:headEnd type="none" w="med" len="med"/>
                      <a:tailEnd type="none" w="med" len="med"/>
                    </a:lnB>
                    <a:solidFill>
                      <a:srgbClr val="0F4A48"/>
                    </a:solidFill>
                  </a:tcPr>
                </a:tc>
                <a:tc>
                  <a:txBody>
                    <a:bodyPr/>
                    <a:lstStyle/>
                    <a:p>
                      <a:pPr algn="l" indent="0" marL="0">
                        <a:buNone/>
                      </a:pPr>
                      <a:r>
                        <a:rPr lang="en-US" sz="1800" dirty="0">
                          <a:solidFill>
                            <a:srgbClr val="FFFFFF"/>
                          </a:solidFill>
                          <a:latin typeface="Red Hat Text" pitchFamily="34" charset="0"/>
                          <a:ea typeface="Red Hat Text" pitchFamily="34" charset="-122"/>
                          <a:cs typeface="Red Hat Text" pitchFamily="34" charset="-120"/>
                        </a:rPr>
                        <a:t>Conventional approach</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0F4A48"/>
                      </a:solidFill>
                      <a:prstDash val="solid"/>
                      <a:round/>
                      <a:headEnd type="none" w="med" len="med"/>
                      <a:tailEnd type="none" w="med" len="med"/>
                    </a:lnL>
                    <a:lnR w="12700" cap="flat" cmpd="sng" algn="ctr">
                      <a:solidFill>
                        <a:srgbClr val="0F4A48"/>
                      </a:solidFill>
                      <a:prstDash val="solid"/>
                      <a:round/>
                      <a:headEnd type="none" w="med" len="med"/>
                      <a:tailEnd type="none" w="med" len="med"/>
                    </a:lnR>
                    <a:lnT w="12700" cap="flat" cmpd="sng" algn="ctr">
                      <a:solidFill>
                        <a:srgbClr val="0F4A48"/>
                      </a:solidFill>
                      <a:prstDash val="solid"/>
                      <a:round/>
                      <a:headEnd type="none" w="med" len="med"/>
                      <a:tailEnd type="none" w="med" len="med"/>
                    </a:lnT>
                    <a:lnB w="12700" cap="flat" cmpd="sng" algn="ctr">
                      <a:solidFill>
                        <a:srgbClr val="3A4330"/>
                      </a:solidFill>
                      <a:prstDash val="solid"/>
                      <a:round/>
                      <a:headEnd type="none" w="med" len="med"/>
                      <a:tailEnd type="none" w="med" len="med"/>
                    </a:lnB>
                    <a:solidFill>
                      <a:srgbClr val="0F4A48"/>
                    </a:solidFill>
                  </a:tcPr>
                </a:tc>
                <a:tc>
                  <a:txBody>
                    <a:bodyPr/>
                    <a:lstStyle/>
                    <a:p>
                      <a:pPr algn="l" indent="0" marL="0">
                        <a:buNone/>
                      </a:pPr>
                      <a:r>
                        <a:rPr lang="en-US" sz="1800" dirty="0">
                          <a:solidFill>
                            <a:srgbClr val="FFFFFF"/>
                          </a:solidFill>
                          <a:latin typeface="Red Hat Text" pitchFamily="34" charset="0"/>
                          <a:ea typeface="Red Hat Text" pitchFamily="34" charset="-122"/>
                          <a:cs typeface="Red Hat Text" pitchFamily="34" charset="-120"/>
                        </a:rPr>
                        <a:t>FreshRoute approach</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0F4A48"/>
                      </a:solidFill>
                      <a:prstDash val="solid"/>
                      <a:round/>
                      <a:headEnd type="none" w="med" len="med"/>
                      <a:tailEnd type="none" w="med" len="med"/>
                    </a:lnL>
                    <a:lnR w="12700" cap="flat" cmpd="sng" algn="ctr">
                      <a:solidFill>
                        <a:srgbClr val="0F4A48"/>
                      </a:solidFill>
                      <a:prstDash val="solid"/>
                      <a:round/>
                      <a:headEnd type="none" w="med" len="med"/>
                      <a:tailEnd type="none" w="med" len="med"/>
                    </a:lnR>
                    <a:lnT w="12700" cap="flat" cmpd="sng" algn="ctr">
                      <a:solidFill>
                        <a:srgbClr val="0F4A48"/>
                      </a:solidFill>
                      <a:prstDash val="solid"/>
                      <a:round/>
                      <a:headEnd type="none" w="med" len="med"/>
                      <a:tailEnd type="none" w="med" len="med"/>
                    </a:lnT>
                    <a:lnB w="12700" cap="flat" cmpd="sng" algn="ctr">
                      <a:solidFill>
                        <a:srgbClr val="3A4330"/>
                      </a:solidFill>
                      <a:prstDash val="solid"/>
                      <a:round/>
                      <a:headEnd type="none" w="med" len="med"/>
                      <a:tailEnd type="none" w="med" len="med"/>
                    </a:lnB>
                    <a:solidFill>
                      <a:srgbClr val="0F4A48"/>
                    </a:solidFill>
                  </a:tcPr>
                </a:tc>
              </a:tr>
              <a:tr h="826273">
                <a:tc>
                  <a:txBody>
                    <a:bodyPr/>
                    <a:lstStyle/>
                    <a:p>
                      <a:pPr algn="l" indent="0" marL="0">
                        <a:buNone/>
                      </a:pPr>
                      <a:r>
                        <a:rPr lang="en-US" sz="1800" dirty="0">
                          <a:solidFill>
                            <a:srgbClr val="F6F1DE"/>
                          </a:solidFill>
                          <a:latin typeface="Red Hat Text" pitchFamily="34" charset="0"/>
                          <a:ea typeface="Red Hat Text" pitchFamily="34" charset="-122"/>
                          <a:cs typeface="Red Hat Text" pitchFamily="34" charset="-120"/>
                        </a:rPr>
                        <a:t>Scheduling</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Schedules deliveries, then reacts to issues.</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Prioritizes by risk, deadline, distance, and capacity.</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r>
              <a:tr h="826273">
                <a:tc>
                  <a:txBody>
                    <a:bodyPr/>
                    <a:lstStyle/>
                    <a:p>
                      <a:pPr algn="l" indent="0" marL="0">
                        <a:buNone/>
                      </a:pPr>
                      <a:r>
                        <a:rPr lang="en-US" sz="1800" dirty="0">
                          <a:solidFill>
                            <a:srgbClr val="F6F1DE"/>
                          </a:solidFill>
                          <a:latin typeface="Red Hat Text" pitchFamily="34" charset="0"/>
                          <a:ea typeface="Red Hat Text" pitchFamily="34" charset="-122"/>
                          <a:cs typeface="Red Hat Text" pitchFamily="34" charset="-120"/>
                        </a:rPr>
                        <a:t>Storage</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Problems surface after quality is affected.</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Monitors conditions and surfaces configured alerts.</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r>
              <a:tr h="826273">
                <a:tc>
                  <a:txBody>
                    <a:bodyPr/>
                    <a:lstStyle/>
                    <a:p>
                      <a:pPr algn="l" indent="0" marL="0">
                        <a:buNone/>
                      </a:pPr>
                      <a:r>
                        <a:rPr lang="en-US" sz="1800" dirty="0">
                          <a:solidFill>
                            <a:srgbClr val="F6F1DE"/>
                          </a:solidFill>
                          <a:latin typeface="Red Hat Text" pitchFamily="34" charset="0"/>
                          <a:ea typeface="Red Hat Text" pitchFamily="34" charset="-122"/>
                          <a:cs typeface="Red Hat Text" pitchFamily="34" charset="-120"/>
                        </a:rPr>
                        <a:t>Surplus</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Stock can sit near unmet demand.</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Links suitable surplus to nearby demand.</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3A4330"/>
                      </a:solidFill>
                      <a:prstDash val="solid"/>
                      <a:round/>
                      <a:headEnd type="none" w="med" len="med"/>
                      <a:tailEnd type="none" w="med" len="med"/>
                    </a:lnB>
                  </a:tcPr>
                </a:tc>
              </a:tr>
              <a:tr h="1128982">
                <a:tc>
                  <a:txBody>
                    <a:bodyPr/>
                    <a:lstStyle/>
                    <a:p>
                      <a:pPr algn="l" indent="0" marL="0">
                        <a:buNone/>
                      </a:pPr>
                      <a:r>
                        <a:rPr lang="en-US" sz="1800" dirty="0">
                          <a:solidFill>
                            <a:srgbClr val="F6F1DE"/>
                          </a:solidFill>
                          <a:latin typeface="Red Hat Text" pitchFamily="34" charset="0"/>
                          <a:ea typeface="Red Hat Text" pitchFamily="34" charset="-122"/>
                          <a:cs typeface="Red Hat Text" pitchFamily="34" charset="-120"/>
                        </a:rPr>
                        <a:t>Visibility</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1D2413"/>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Operational decisions stay fragmented.</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1D2413"/>
                      </a:solidFill>
                      <a:prstDash val="solid"/>
                      <a:round/>
                      <a:headEnd type="none" w="med" len="med"/>
                      <a:tailEnd type="none" w="med" len="med"/>
                    </a:lnB>
                  </a:tcPr>
                </a:tc>
                <a:tc>
                  <a:txBody>
                    <a:bodyPr/>
                    <a:lstStyle/>
                    <a:p>
                      <a:pPr algn="l" indent="0" marL="0">
                        <a:buNone/>
                      </a:pPr>
                      <a:r>
                        <a:rPr lang="en-US" sz="1800" dirty="0">
                          <a:solidFill>
                            <a:srgbClr val="E4DEC8"/>
                          </a:solidFill>
                          <a:latin typeface="Red Hat Text" pitchFamily="34" charset="0"/>
                          <a:ea typeface="Red Hat Text" pitchFamily="34" charset="-122"/>
                          <a:cs typeface="Red Hat Text" pitchFamily="34" charset="-120"/>
                        </a:rPr>
                        <a:t>Tracks food waste, distance, fuel, and estimated emissions in one dashboard.</a:t>
                      </a:r>
                      <a:endParaRPr lang="en-US" sz="1800" dirty="0">
                        <a:latin typeface="Red Hat Text" charset="0"/>
                        <a:ea typeface="Red Hat Text" charset="0"/>
                        <a:cs typeface="Red Hat Text" charset="0"/>
                      </a:endParaRPr>
                    </a:p>
                  </a:txBody>
                  <a:tcPr marL="171446" marR="171446" marT="91438" marB="91438" anchor="ctr">
                    <a:lnL w="12700" cap="flat" cmpd="sng" algn="ctr">
                      <a:solidFill>
                        <a:srgbClr val="1D2413"/>
                      </a:solidFill>
                      <a:prstDash val="solid"/>
                      <a:round/>
                      <a:headEnd type="none" w="med" len="med"/>
                      <a:tailEnd type="none" w="med" len="med"/>
                    </a:lnL>
                    <a:lnR w="12700" cap="flat" cmpd="sng" algn="ctr">
                      <a:solidFill>
                        <a:srgbClr val="1D2413"/>
                      </a:solidFill>
                      <a:prstDash val="solid"/>
                      <a:round/>
                      <a:headEnd type="none" w="med" len="med"/>
                      <a:tailEnd type="none" w="med" len="med"/>
                    </a:lnR>
                    <a:lnT w="12700" cap="flat" cmpd="sng" algn="ctr">
                      <a:solidFill>
                        <a:srgbClr val="3A4330"/>
                      </a:solidFill>
                      <a:prstDash val="solid"/>
                      <a:round/>
                      <a:headEnd type="none" w="med" len="med"/>
                      <a:tailEnd type="none" w="med" len="med"/>
                    </a:lnT>
                    <a:lnB w="12700" cap="flat" cmpd="sng" algn="ctr">
                      <a:solidFill>
                        <a:srgbClr val="1D2413"/>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4984" y="639127"/>
            <a:ext cx="4094457"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6F1DE"/>
                </a:solidFill>
                <a:latin typeface="Red Hat Text Bold" pitchFamily="34" charset="0"/>
                <a:ea typeface="Red Hat Text Bold" pitchFamily="34" charset="-122"/>
                <a:cs typeface="Red Hat Text Bold" pitchFamily="34" charset="-120"/>
              </a:rPr>
              <a:t>HYPOTHETICAL · COIMBATORE</a:t>
            </a:r>
            <a:endParaRPr lang="en-US" sz="1400" dirty="0"/>
          </a:p>
        </p:txBody>
      </p:sp>
      <p:sp>
        <p:nvSpPr>
          <p:cNvPr id="3" name="Text 1"/>
          <p:cNvSpPr/>
          <p:nvPr/>
        </p:nvSpPr>
        <p:spPr>
          <a:xfrm>
            <a:off x="634984" y="994541"/>
            <a:ext cx="3484872" cy="1042392"/>
          </a:xfrm>
          <a:prstGeom prst="rect">
            <a:avLst/>
          </a:prstGeom>
          <a:noFill/>
          <a:ln/>
        </p:spPr>
        <p:txBody>
          <a:bodyPr wrap="square" lIns="0" tIns="0" rIns="0" bIns="0" rtlCol="0" anchor="t">
            <a:normAutofit/>
          </a:bodyPr>
          <a:lstStyle/>
          <a:p>
            <a:pPr algn="l" indent="0" marL="0">
              <a:lnSpc>
                <a:spcPct val="90000"/>
              </a:lnSpc>
              <a:buNone/>
            </a:pPr>
            <a:r>
              <a:rPr lang="en-US" sz="3800" b="1" spc="-57" kern="100" dirty="0">
                <a:solidFill>
                  <a:srgbClr val="F6F1DE"/>
                </a:solidFill>
                <a:latin typeface="Host Grotesk Bold" pitchFamily="34" charset="0"/>
                <a:ea typeface="Host Grotesk Bold" pitchFamily="34" charset="-122"/>
                <a:cs typeface="Host Grotesk Bold" pitchFamily="34" charset="-120"/>
              </a:rPr>
              <a:t>Prioritize what can spoil first</a:t>
            </a:r>
            <a:endParaRPr lang="en-US" sz="3800" dirty="0"/>
          </a:p>
        </p:txBody>
      </p:sp>
      <p:sp>
        <p:nvSpPr>
          <p:cNvPr id="4" name="Shape 2"/>
          <p:cNvSpPr/>
          <p:nvPr/>
        </p:nvSpPr>
        <p:spPr>
          <a:xfrm>
            <a:off x="634984" y="2281535"/>
            <a:ext cx="871218" cy="50701"/>
          </a:xfrm>
          <a:prstGeom prst="roundRect">
            <a:avLst>
              <a:gd name="adj" fmla="val 49999"/>
            </a:avLst>
          </a:prstGeom>
          <a:solidFill>
            <a:srgbClr val="F2C230"/>
          </a:solidFill>
          <a:ln/>
        </p:spPr>
      </p:sp>
      <p:sp>
        <p:nvSpPr>
          <p:cNvPr id="5" name="Text 3"/>
          <p:cNvSpPr/>
          <p:nvPr/>
        </p:nvSpPr>
        <p:spPr>
          <a:xfrm>
            <a:off x="634984" y="2591098"/>
            <a:ext cx="3484872" cy="3672780"/>
          </a:xfrm>
          <a:prstGeom prst="rect">
            <a:avLst/>
          </a:prstGeom>
          <a:noFill/>
          <a:ln/>
        </p:spPr>
        <p:txBody>
          <a:bodyPr wrap="square" lIns="0" tIns="0" rIns="0" bIns="0" rtlCol="0" anchor="t">
            <a:normAutofit/>
          </a:bodyPr>
          <a:lstStyle/>
          <a:p>
            <a:pPr algn="l" indent="0" marL="0">
              <a:lnSpc>
                <a:spcPct val="115000"/>
              </a:lnSpc>
              <a:spcAft>
                <a:spcPts val="1550"/>
              </a:spcAft>
              <a:buNone/>
            </a:pPr>
            <a:r>
              <a:rPr lang="en-US" sz="1800" dirty="0">
                <a:solidFill>
                  <a:srgbClr val="E4DEC8"/>
                </a:solidFill>
                <a:latin typeface="Red Hat Text" pitchFamily="34" charset="0"/>
                <a:ea typeface="Red Hat Text" pitchFamily="34" charset="-122"/>
                <a:cs typeface="Red Hat Text" pitchFamily="34" charset="-120"/>
              </a:rPr>
              <a:t>A supplier has 100 kg of tomatoes and 50 kg of leafy vegetables for different customers.</a:t>
            </a:r>
            <a:endParaRPr lang="en-US" sz="1800" dirty="0"/>
          </a:p>
          <a:p>
            <a:pPr algn="l" indent="0" marL="0">
              <a:lnSpc>
                <a:spcPct val="115000"/>
              </a:lnSpc>
              <a:buNone/>
            </a:pPr>
            <a:r>
              <a:rPr lang="en-US" sz="1800" dirty="0">
                <a:solidFill>
                  <a:srgbClr val="E4DEC8"/>
                </a:solidFill>
                <a:latin typeface="Red Hat Text" pitchFamily="34" charset="0"/>
                <a:ea typeface="Red Hat Text" pitchFamily="34" charset="-122"/>
                <a:cs typeface="Red Hat Text" pitchFamily="34" charset="-120"/>
              </a:rPr>
              <a:t>FreshRoute checks deadlines, travel time, and storage needs; prioritizes urgent shipments and recommends routes; alerts the warehouse manager to configured storage-limit breaches; and finds nearby buyers for suitable surplus stock.</a:t>
            </a:r>
            <a:endParaRPr lang="en-US" sz="1800" dirty="0"/>
          </a:p>
        </p:txBody>
      </p:sp>
      <p:pic>
        <p:nvPicPr>
          <p:cNvPr id="6" name="Image 0" descr="preencoded.png">    </p:cNvPr>
          <p:cNvPicPr>
            <a:picLocks noChangeAspect="1"/>
          </p:cNvPicPr>
          <p:nvPr/>
        </p:nvPicPr>
        <p:blipFill>
          <a:blip r:embed="rId1"/>
          <a:stretch>
            <a:fillRect/>
          </a:stretch>
        </p:blipFill>
        <p:spPr>
          <a:xfrm>
            <a:off x="5694518" y="1600002"/>
            <a:ext cx="5862193" cy="3137396"/>
          </a:xfrm>
          <a:prstGeom prst="rect">
            <a:avLst/>
          </a:prstGeom>
        </p:spPr>
      </p:pic>
      <p:sp>
        <p:nvSpPr>
          <p:cNvPr id="7" name="Text 4"/>
          <p:cNvSpPr/>
          <p:nvPr/>
        </p:nvSpPr>
        <p:spPr>
          <a:xfrm>
            <a:off x="8400049" y="1885660"/>
            <a:ext cx="3006968" cy="220075"/>
          </a:xfrm>
          <a:prstGeom prst="rect">
            <a:avLst/>
          </a:prstGeom>
          <a:noFill/>
          <a:ln/>
        </p:spPr>
        <p:txBody>
          <a:bodyPr wrap="none" lIns="0" tIns="0" rIns="0" bIns="0" rtlCol="0" anchor="t"/>
          <a:lstStyle/>
          <a:p>
            <a:pPr algn="l" indent="0" marL="0">
              <a:lnSpc>
                <a:spcPct val="107000"/>
              </a:lnSpc>
              <a:buNone/>
            </a:pPr>
            <a:r>
              <a:rPr lang="en-US" sz="1350" spc="-7" kern="100" dirty="0">
                <a:solidFill>
                  <a:srgbClr val="F6F1DE"/>
                </a:solidFill>
                <a:latin typeface="Red Hat Text SemiBold" pitchFamily="34" charset="0"/>
                <a:ea typeface="Red Hat Text SemiBold" pitchFamily="34" charset="-122"/>
                <a:cs typeface="Red Hat Text SemiBold" pitchFamily="34" charset="-120"/>
              </a:rPr>
              <a:t>Visible Delivery</a:t>
            </a:r>
            <a:endParaRPr lang="en-US" sz="1350" dirty="0"/>
          </a:p>
        </p:txBody>
      </p:sp>
      <p:pic>
        <p:nvPicPr>
          <p:cNvPr id="8" name="Image 1" descr="preencoded.png">    </p:cNvPr>
          <p:cNvPicPr>
            <a:picLocks noChangeAspect="1"/>
          </p:cNvPicPr>
          <p:nvPr/>
        </p:nvPicPr>
        <p:blipFill>
          <a:blip r:embed="rId2"/>
          <a:stretch>
            <a:fillRect/>
          </a:stretch>
        </p:blipFill>
        <p:spPr>
          <a:xfrm>
            <a:off x="8021827" y="1928282"/>
            <a:ext cx="146550" cy="146554"/>
          </a:xfrm>
          <a:prstGeom prst="rect">
            <a:avLst/>
          </a:prstGeom>
        </p:spPr>
      </p:pic>
      <p:sp>
        <p:nvSpPr>
          <p:cNvPr id="9" name="Text 5"/>
          <p:cNvSpPr/>
          <p:nvPr/>
        </p:nvSpPr>
        <p:spPr>
          <a:xfrm>
            <a:off x="8400049" y="2466013"/>
            <a:ext cx="3006968" cy="220075"/>
          </a:xfrm>
          <a:prstGeom prst="rect">
            <a:avLst/>
          </a:prstGeom>
          <a:noFill/>
          <a:ln/>
        </p:spPr>
        <p:txBody>
          <a:bodyPr wrap="none" lIns="0" tIns="0" rIns="0" bIns="0" rtlCol="0" anchor="t"/>
          <a:lstStyle/>
          <a:p>
            <a:pPr algn="l" indent="0" marL="0">
              <a:lnSpc>
                <a:spcPct val="107000"/>
              </a:lnSpc>
              <a:buNone/>
            </a:pPr>
            <a:r>
              <a:rPr lang="en-US" sz="1350" spc="-7" kern="100" dirty="0">
                <a:solidFill>
                  <a:srgbClr val="F6F1DE"/>
                </a:solidFill>
                <a:latin typeface="Red Hat Text SemiBold" pitchFamily="34" charset="0"/>
                <a:ea typeface="Red Hat Text SemiBold" pitchFamily="34" charset="-122"/>
                <a:cs typeface="Red Hat Text SemiBold" pitchFamily="34" charset="-120"/>
              </a:rPr>
              <a:t>Inventory &amp; Checks</a:t>
            </a:r>
            <a:endParaRPr lang="en-US" sz="1350" dirty="0"/>
          </a:p>
        </p:txBody>
      </p:sp>
      <p:pic>
        <p:nvPicPr>
          <p:cNvPr id="10" name="Image 2" descr="preencoded.png">    </p:cNvPr>
          <p:cNvPicPr>
            <a:picLocks noChangeAspect="1"/>
          </p:cNvPicPr>
          <p:nvPr/>
        </p:nvPicPr>
        <p:blipFill>
          <a:blip r:embed="rId3"/>
          <a:stretch>
            <a:fillRect/>
          </a:stretch>
        </p:blipFill>
        <p:spPr>
          <a:xfrm>
            <a:off x="8021827" y="2502774"/>
            <a:ext cx="146550" cy="146554"/>
          </a:xfrm>
          <a:prstGeom prst="rect">
            <a:avLst/>
          </a:prstGeom>
        </p:spPr>
      </p:pic>
      <p:sp>
        <p:nvSpPr>
          <p:cNvPr id="11" name="Text 6"/>
          <p:cNvSpPr/>
          <p:nvPr/>
        </p:nvSpPr>
        <p:spPr>
          <a:xfrm>
            <a:off x="8400049" y="3040505"/>
            <a:ext cx="3006968" cy="220075"/>
          </a:xfrm>
          <a:prstGeom prst="rect">
            <a:avLst/>
          </a:prstGeom>
          <a:noFill/>
          <a:ln/>
        </p:spPr>
        <p:txBody>
          <a:bodyPr wrap="none" lIns="0" tIns="0" rIns="0" bIns="0" rtlCol="0" anchor="t"/>
          <a:lstStyle/>
          <a:p>
            <a:pPr algn="l" indent="0" marL="0">
              <a:lnSpc>
                <a:spcPct val="107000"/>
              </a:lnSpc>
              <a:buNone/>
            </a:pPr>
            <a:r>
              <a:rPr lang="en-US" sz="1350" spc="-7" kern="100" dirty="0">
                <a:solidFill>
                  <a:srgbClr val="F6F1DE"/>
                </a:solidFill>
                <a:latin typeface="Red Hat Text SemiBold" pitchFamily="34" charset="0"/>
                <a:ea typeface="Red Hat Text SemiBold" pitchFamily="34" charset="-122"/>
                <a:cs typeface="Red Hat Text SemiBold" pitchFamily="34" charset="-120"/>
              </a:rPr>
              <a:t>Alerts &amp; Actions</a:t>
            </a:r>
            <a:endParaRPr lang="en-US" sz="1350" dirty="0"/>
          </a:p>
        </p:txBody>
      </p:sp>
      <p:pic>
        <p:nvPicPr>
          <p:cNvPr id="12" name="Image 3" descr="preencoded.png">    </p:cNvPr>
          <p:cNvPicPr>
            <a:picLocks noChangeAspect="1"/>
          </p:cNvPicPr>
          <p:nvPr/>
        </p:nvPicPr>
        <p:blipFill>
          <a:blip r:embed="rId4"/>
          <a:stretch>
            <a:fillRect/>
          </a:stretch>
        </p:blipFill>
        <p:spPr>
          <a:xfrm>
            <a:off x="8021827" y="3083128"/>
            <a:ext cx="146550" cy="146554"/>
          </a:xfrm>
          <a:prstGeom prst="rect">
            <a:avLst/>
          </a:prstGeom>
        </p:spPr>
      </p:pic>
      <p:sp>
        <p:nvSpPr>
          <p:cNvPr id="13" name="Text 7"/>
          <p:cNvSpPr/>
          <p:nvPr/>
        </p:nvSpPr>
        <p:spPr>
          <a:xfrm>
            <a:off x="8400049" y="3614996"/>
            <a:ext cx="3006968" cy="220075"/>
          </a:xfrm>
          <a:prstGeom prst="rect">
            <a:avLst/>
          </a:prstGeom>
          <a:noFill/>
          <a:ln/>
        </p:spPr>
        <p:txBody>
          <a:bodyPr wrap="none" lIns="0" tIns="0" rIns="0" bIns="0" rtlCol="0" anchor="t"/>
          <a:lstStyle/>
          <a:p>
            <a:pPr algn="l" indent="0" marL="0">
              <a:lnSpc>
                <a:spcPct val="107000"/>
              </a:lnSpc>
              <a:buNone/>
            </a:pPr>
            <a:r>
              <a:rPr lang="en-US" sz="1350" spc="-7" kern="100" dirty="0">
                <a:solidFill>
                  <a:srgbClr val="F6F1DE"/>
                </a:solidFill>
                <a:latin typeface="Red Hat Text SemiBold" pitchFamily="34" charset="0"/>
                <a:ea typeface="Red Hat Text SemiBold" pitchFamily="34" charset="-122"/>
                <a:cs typeface="Red Hat Text SemiBold" pitchFamily="34" charset="-120"/>
              </a:rPr>
              <a:t>Surplus Matching</a:t>
            </a:r>
            <a:endParaRPr lang="en-US" sz="1350" dirty="0"/>
          </a:p>
        </p:txBody>
      </p:sp>
      <p:pic>
        <p:nvPicPr>
          <p:cNvPr id="14" name="Image 4" descr="preencoded.png">    </p:cNvPr>
          <p:cNvPicPr>
            <a:picLocks noChangeAspect="1"/>
          </p:cNvPicPr>
          <p:nvPr/>
        </p:nvPicPr>
        <p:blipFill>
          <a:blip r:embed="rId5"/>
          <a:stretch>
            <a:fillRect/>
          </a:stretch>
        </p:blipFill>
        <p:spPr>
          <a:xfrm>
            <a:off x="8021827" y="3657619"/>
            <a:ext cx="146550" cy="146554"/>
          </a:xfrm>
          <a:prstGeom prst="rect">
            <a:avLst/>
          </a:prstGeom>
        </p:spPr>
      </p:pic>
      <p:sp>
        <p:nvSpPr>
          <p:cNvPr id="15" name="Text 8"/>
          <p:cNvSpPr/>
          <p:nvPr/>
        </p:nvSpPr>
        <p:spPr>
          <a:xfrm>
            <a:off x="8400049" y="4195350"/>
            <a:ext cx="3006968" cy="220075"/>
          </a:xfrm>
          <a:prstGeom prst="rect">
            <a:avLst/>
          </a:prstGeom>
          <a:noFill/>
          <a:ln/>
        </p:spPr>
        <p:txBody>
          <a:bodyPr wrap="none" lIns="0" tIns="0" rIns="0" bIns="0" rtlCol="0" anchor="t"/>
          <a:lstStyle/>
          <a:p>
            <a:pPr algn="l" indent="0" marL="0">
              <a:lnSpc>
                <a:spcPct val="107000"/>
              </a:lnSpc>
              <a:buNone/>
            </a:pPr>
            <a:r>
              <a:rPr lang="en-US" sz="1350" spc="-7" kern="100" dirty="0">
                <a:solidFill>
                  <a:srgbClr val="F6F1DE"/>
                </a:solidFill>
                <a:latin typeface="Red Hat Text SemiBold" pitchFamily="34" charset="0"/>
                <a:ea typeface="Red Hat Text SemiBold" pitchFamily="34" charset="-122"/>
                <a:cs typeface="Red Hat Text SemiBold" pitchFamily="34" charset="-120"/>
              </a:rPr>
              <a:t>Logistics Constraints</a:t>
            </a:r>
            <a:endParaRPr lang="en-US" sz="1350" dirty="0"/>
          </a:p>
        </p:txBody>
      </p:sp>
      <p:pic>
        <p:nvPicPr>
          <p:cNvPr id="16" name="Image 5" descr="preencoded.png">    </p:cNvPr>
          <p:cNvPicPr>
            <a:picLocks noChangeAspect="1"/>
          </p:cNvPicPr>
          <p:nvPr/>
        </p:nvPicPr>
        <p:blipFill>
          <a:blip r:embed="rId6"/>
          <a:stretch>
            <a:fillRect/>
          </a:stretch>
        </p:blipFill>
        <p:spPr>
          <a:xfrm>
            <a:off x="8021827" y="4237973"/>
            <a:ext cx="146550" cy="146554"/>
          </a:xfrm>
          <a:prstGeom prst="rect">
            <a:avLst/>
          </a:prstGeom>
        </p:spPr>
      </p:pic>
      <p:sp>
        <p:nvSpPr>
          <p:cNvPr id="17" name="Text 9"/>
          <p:cNvSpPr/>
          <p:nvPr/>
        </p:nvSpPr>
        <p:spPr>
          <a:xfrm>
            <a:off x="5694518" y="4832711"/>
            <a:ext cx="5862193" cy="469305"/>
          </a:xfrm>
          <a:prstGeom prst="rect">
            <a:avLst/>
          </a:prstGeom>
          <a:noFill/>
          <a:ln/>
        </p:spPr>
        <p:txBody>
          <a:bodyPr wrap="square" lIns="0" tIns="0" rIns="0" bIns="0" rtlCol="0" anchor="t">
            <a:normAutofit/>
          </a:bodyPr>
          <a:lstStyle/>
          <a:p>
            <a:pPr algn="l" indent="0" marL="0">
              <a:lnSpc>
                <a:spcPct val="110000"/>
              </a:lnSpc>
              <a:buNone/>
            </a:pPr>
            <a:r>
              <a:rPr lang="en-US" sz="1400" spc="14" kern="100" dirty="0">
                <a:solidFill>
                  <a:srgbClr val="B9B39A"/>
                </a:solidFill>
                <a:latin typeface="Red Hat Text Medium" pitchFamily="34" charset="0"/>
                <a:ea typeface="Red Hat Text Medium" pitchFamily="34" charset="-122"/>
                <a:cs typeface="Red Hat Text Medium" pitchFamily="34" charset="-120"/>
              </a:rPr>
              <a:t>Expected outcome: better decisions and potential reduction in avoidable loss and unnecessary travel.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4984" y="435927"/>
            <a:ext cx="11531312"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B9B39A"/>
                </a:solidFill>
                <a:latin typeface="Red Hat Text Bold" pitchFamily="34" charset="0"/>
                <a:ea typeface="Red Hat Text Bold" pitchFamily="34" charset="-122"/>
                <a:cs typeface="Red Hat Text Bold" pitchFamily="34" charset="-120"/>
              </a:rPr>
              <a:t>FROM PROTOTYPE TO PLATFORM</a:t>
            </a:r>
            <a:endParaRPr lang="en-US" sz="1400" dirty="0"/>
          </a:p>
        </p:txBody>
      </p:sp>
      <p:sp>
        <p:nvSpPr>
          <p:cNvPr id="3" name="Text 1"/>
          <p:cNvSpPr/>
          <p:nvPr/>
        </p:nvSpPr>
        <p:spPr>
          <a:xfrm>
            <a:off x="634984" y="791341"/>
            <a:ext cx="10921727" cy="1042392"/>
          </a:xfrm>
          <a:prstGeom prst="rect">
            <a:avLst/>
          </a:prstGeom>
          <a:noFill/>
          <a:ln/>
        </p:spPr>
        <p:txBody>
          <a:bodyPr wrap="square" lIns="0" tIns="0" rIns="0" bIns="0" rtlCol="0" anchor="t">
            <a:normAutofit/>
          </a:bodyPr>
          <a:lstStyle/>
          <a:p>
            <a:pPr algn="l" indent="0" marL="0">
              <a:lnSpc>
                <a:spcPct val="90000"/>
              </a:lnSpc>
              <a:buNone/>
            </a:pPr>
            <a:r>
              <a:rPr lang="en-US" sz="3800" b="1" spc="-57" kern="100" dirty="0">
                <a:solidFill>
                  <a:srgbClr val="F6F1DE"/>
                </a:solidFill>
                <a:latin typeface="Host Grotesk Bold" pitchFamily="34" charset="0"/>
                <a:ea typeface="Host Grotesk Bold" pitchFamily="34" charset="-122"/>
                <a:cs typeface="Host Grotesk Bold" pitchFamily="34" charset="-120"/>
              </a:rPr>
              <a:t>A practical prototype with a path to smarter logistics</a:t>
            </a:r>
            <a:endParaRPr lang="en-US" sz="3800" dirty="0"/>
          </a:p>
        </p:txBody>
      </p:sp>
      <p:sp>
        <p:nvSpPr>
          <p:cNvPr id="4" name="Shape 2"/>
          <p:cNvSpPr/>
          <p:nvPr/>
        </p:nvSpPr>
        <p:spPr>
          <a:xfrm>
            <a:off x="634984" y="2078335"/>
            <a:ext cx="2730432" cy="50701"/>
          </a:xfrm>
          <a:prstGeom prst="roundRect">
            <a:avLst>
              <a:gd name="adj" fmla="val 49999"/>
            </a:avLst>
          </a:prstGeom>
          <a:solidFill>
            <a:srgbClr val="F2C230"/>
          </a:solidFill>
          <a:ln/>
        </p:spPr>
      </p:sp>
      <p:pic>
        <p:nvPicPr>
          <p:cNvPr id="5" name="Image 0" descr="preencoded.png">    </p:cNvPr>
          <p:cNvPicPr>
            <a:picLocks noChangeAspect="1"/>
          </p:cNvPicPr>
          <p:nvPr/>
        </p:nvPicPr>
        <p:blipFill>
          <a:blip r:embed="rId1"/>
          <a:stretch>
            <a:fillRect/>
          </a:stretch>
        </p:blipFill>
        <p:spPr>
          <a:xfrm>
            <a:off x="634984" y="2387898"/>
            <a:ext cx="6598477" cy="3682901"/>
          </a:xfrm>
          <a:prstGeom prst="rect">
            <a:avLst/>
          </a:prstGeom>
        </p:spPr>
      </p:pic>
      <p:sp>
        <p:nvSpPr>
          <p:cNvPr id="6" name="Text 3"/>
          <p:cNvSpPr/>
          <p:nvPr/>
        </p:nvSpPr>
        <p:spPr>
          <a:xfrm>
            <a:off x="634984" y="6201037"/>
            <a:ext cx="11531312" cy="234652"/>
          </a:xfrm>
          <a:prstGeom prst="rect">
            <a:avLst/>
          </a:prstGeom>
          <a:noFill/>
          <a:ln/>
        </p:spPr>
        <p:txBody>
          <a:bodyPr wrap="none" lIns="0" tIns="0" rIns="0" bIns="0" rtlCol="0" anchor="t"/>
          <a:lstStyle/>
          <a:p>
            <a:pPr algn="l" indent="0" marL="0">
              <a:lnSpc>
                <a:spcPct val="110000"/>
              </a:lnSpc>
              <a:buNone/>
            </a:pPr>
            <a:r>
              <a:rPr lang="en-US" sz="1400" spc="14" kern="100" dirty="0">
                <a:solidFill>
                  <a:srgbClr val="B9B39A"/>
                </a:solidFill>
                <a:latin typeface="Red Hat Text Medium" pitchFamily="34" charset="0"/>
                <a:ea typeface="Red Hat Text Medium" pitchFamily="34" charset="-122"/>
                <a:cs typeface="Red Hat Text Medium" pitchFamily="34" charset="-120"/>
              </a:rPr>
              <a:t>Prototype stack: React and TypeScript · Supabase · mapping and routing APIs · rule-based prioritization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7721407" cy="6858000"/>
          </a:xfrm>
          <a:custGeom>
            <a:avLst/>
            <a:gdLst/>
            <a:ahLst/>
            <a:cxnLst/>
            <a:rect l="l" t="t" r="r" b="b"/>
            <a:pathLst>
              <a:path w="7721407" h="6858000">
                <a:moveTo>
                  <a:pt x="812779" y="0"/>
                </a:moveTo>
                <a:lnTo>
                  <a:pt x="7594410" y="0"/>
                </a:lnTo>
                <a:arcTo hR="127000" wR="126997" stAng="16200000" swAng="5400000"/>
                <a:lnTo>
                  <a:pt x="7721407" y="6731000"/>
                </a:lnTo>
                <a:arcTo hR="127000" wR="126997" stAng="0" swAng="5400000"/>
                <a:lnTo>
                  <a:pt x="126997" y="6858000"/>
                </a:lnTo>
                <a:arcTo hR="127000" wR="126997" stAng="5400000" swAng="5400000"/>
                <a:lnTo>
                  <a:pt x="0" y="812800"/>
                </a:lnTo>
                <a:arcTo hR="812800" wR="812779" stAng="10800000" swAng="5400000"/>
                <a:close/>
              </a:path>
            </a:pathLst>
          </a:custGeom>
          <a:solidFill>
            <a:srgbClr val="0F4A48"/>
          </a:solidFill>
          <a:ln/>
        </p:spPr>
      </p:sp>
      <p:sp>
        <p:nvSpPr>
          <p:cNvPr id="3" name="Text 1"/>
          <p:cNvSpPr/>
          <p:nvPr/>
        </p:nvSpPr>
        <p:spPr>
          <a:xfrm>
            <a:off x="457189" y="308927"/>
            <a:ext cx="7264218" cy="231080"/>
          </a:xfrm>
          <a:prstGeom prst="rect">
            <a:avLst/>
          </a:prstGeom>
          <a:noFill/>
          <a:ln/>
        </p:spPr>
        <p:txBody>
          <a:bodyPr wrap="none" lIns="0" tIns="0" rIns="0" bIns="0" rtlCol="0" anchor="t"/>
          <a:lstStyle/>
          <a:p>
            <a:pPr algn="l" indent="0" marL="0">
              <a:lnSpc>
                <a:spcPct val="108000"/>
              </a:lnSpc>
              <a:buNone/>
            </a:pPr>
            <a:r>
              <a:rPr lang="en-US" sz="1400" b="1" spc="112" kern="100" dirty="0">
                <a:solidFill>
                  <a:srgbClr val="FFFFFF"/>
                </a:solidFill>
                <a:latin typeface="Red Hat Text Bold" pitchFamily="34" charset="0"/>
                <a:ea typeface="Red Hat Text Bold" pitchFamily="34" charset="-122"/>
                <a:cs typeface="Red Hat Text Bold" pitchFamily="34" charset="-120"/>
              </a:rPr>
              <a:t>THE GREEN LOGISTICS CASE</a:t>
            </a:r>
            <a:endParaRPr lang="en-US" sz="1400" dirty="0"/>
          </a:p>
        </p:txBody>
      </p:sp>
      <p:sp>
        <p:nvSpPr>
          <p:cNvPr id="4" name="Text 2"/>
          <p:cNvSpPr/>
          <p:nvPr/>
        </p:nvSpPr>
        <p:spPr>
          <a:xfrm>
            <a:off x="457189" y="675009"/>
            <a:ext cx="6908627" cy="1261864"/>
          </a:xfrm>
          <a:prstGeom prst="rect">
            <a:avLst/>
          </a:prstGeom>
          <a:noFill/>
          <a:ln/>
        </p:spPr>
        <p:txBody>
          <a:bodyPr wrap="square" lIns="0" tIns="0" rIns="0" bIns="0" rtlCol="0" anchor="t">
            <a:normAutofit/>
          </a:bodyPr>
          <a:lstStyle/>
          <a:p>
            <a:pPr algn="l" indent="0" marL="0">
              <a:lnSpc>
                <a:spcPct val="90000"/>
              </a:lnSpc>
              <a:buNone/>
            </a:pPr>
            <a:r>
              <a:rPr lang="en-US" sz="4600" b="1" spc="-69" kern="100" dirty="0">
                <a:solidFill>
                  <a:srgbClr val="FFFFFF"/>
                </a:solidFill>
                <a:latin typeface="Host Grotesk Bold" pitchFamily="34" charset="0"/>
                <a:ea typeface="Host Grotesk Bold" pitchFamily="34" charset="-122"/>
                <a:cs typeface="Host Grotesk Bold" pitchFamily="34" charset="-120"/>
              </a:rPr>
              <a:t>Building a greener food supply chain</a:t>
            </a:r>
            <a:endParaRPr lang="en-US" sz="4600" dirty="0"/>
          </a:p>
        </p:txBody>
      </p:sp>
      <p:sp>
        <p:nvSpPr>
          <p:cNvPr id="5" name="Shape 3"/>
          <p:cNvSpPr/>
          <p:nvPr/>
        </p:nvSpPr>
        <p:spPr>
          <a:xfrm>
            <a:off x="457189" y="2170807"/>
            <a:ext cx="1727058" cy="50701"/>
          </a:xfrm>
          <a:prstGeom prst="roundRect">
            <a:avLst>
              <a:gd name="adj" fmla="val 49999"/>
            </a:avLst>
          </a:prstGeom>
          <a:solidFill>
            <a:srgbClr val="F2C230"/>
          </a:solidFill>
          <a:ln/>
        </p:spPr>
      </p:sp>
      <p:sp>
        <p:nvSpPr>
          <p:cNvPr id="6" name="Text 4"/>
          <p:cNvSpPr/>
          <p:nvPr/>
        </p:nvSpPr>
        <p:spPr>
          <a:xfrm>
            <a:off x="457189" y="2480370"/>
            <a:ext cx="6908627" cy="2502098"/>
          </a:xfrm>
          <a:prstGeom prst="rect">
            <a:avLst/>
          </a:prstGeom>
          <a:noFill/>
          <a:ln/>
        </p:spPr>
        <p:txBody>
          <a:bodyPr wrap="square" lIns="0" tIns="0" rIns="0" bIns="0" rtlCol="0" anchor="t"/>
          <a:lstStyle/>
          <a:p>
            <a:pPr algn="l" indent="0" marL="0">
              <a:lnSpc>
                <a:spcPct val="115000"/>
              </a:lnSpc>
              <a:spcAft>
                <a:spcPts val="1550"/>
              </a:spcAft>
              <a:buNone/>
            </a:pPr>
            <a:r>
              <a:rPr lang="en-US" sz="1800" b="1" dirty="0">
                <a:solidFill>
                  <a:srgbClr val="FFFFFF"/>
                </a:solidFill>
                <a:latin typeface="Red Hat Text Bold" pitchFamily="34" charset="0"/>
                <a:ea typeface="Red Hat Text Bold" pitchFamily="34" charset="-122"/>
                <a:cs typeface="Red Hat Text Bold" pitchFamily="34" charset="-120"/>
              </a:rPr>
              <a:t>Problem:</a:t>
            </a:r>
            <a:pPr algn="l" indent="0" marL="0">
              <a:lnSpc>
                <a:spcPct val="115000"/>
              </a:lnSpc>
              <a:spcAft>
                <a:spcPts val="1550"/>
              </a:spcAft>
              <a:buNone/>
            </a:pPr>
            <a:r>
              <a:rPr lang="en-US" sz="1800" dirty="0">
                <a:solidFill>
                  <a:srgbClr val="FFFFFF"/>
                </a:solidFill>
                <a:latin typeface="Red Hat Text" pitchFamily="34" charset="0"/>
                <a:ea typeface="Red Hat Text" pitchFamily="34" charset="-122"/>
                <a:cs typeface="Red Hat Text" pitchFamily="34" charset="-120"/>
              </a:rPr>
              <a:t> spoilage and inefficient perishable-goods logistics.</a:t>
            </a:r>
            <a:endParaRPr lang="en-US" sz="1800" dirty="0"/>
          </a:p>
          <a:p>
            <a:pPr algn="l" indent="0" marL="0">
              <a:lnSpc>
                <a:spcPct val="115000"/>
              </a:lnSpc>
              <a:spcAft>
                <a:spcPts val="1550"/>
              </a:spcAft>
              <a:buNone/>
            </a:pPr>
            <a:r>
              <a:rPr lang="en-US" sz="1800" b="1" dirty="0">
                <a:solidFill>
                  <a:srgbClr val="FFFFFF"/>
                </a:solidFill>
                <a:latin typeface="Red Hat Text Bold" pitchFamily="34" charset="0"/>
                <a:ea typeface="Red Hat Text Bold" pitchFamily="34" charset="-122"/>
                <a:cs typeface="Red Hat Text Bold" pitchFamily="34" charset="-120"/>
              </a:rPr>
              <a:t>Solution:</a:t>
            </a:r>
            <a:pPr algn="l" indent="0" marL="0">
              <a:lnSpc>
                <a:spcPct val="115000"/>
              </a:lnSpc>
              <a:spcAft>
                <a:spcPts val="1550"/>
              </a:spcAft>
              <a:buNone/>
            </a:pPr>
            <a:r>
              <a:rPr lang="en-US" sz="1800" dirty="0">
                <a:solidFill>
                  <a:srgbClr val="FFFFFF"/>
                </a:solidFill>
                <a:latin typeface="Red Hat Text" pitchFamily="34" charset="0"/>
                <a:ea typeface="Red Hat Text" pitchFamily="34" charset="-122"/>
                <a:cs typeface="Red Hat Text" pitchFamily="34" charset="-120"/>
              </a:rPr>
              <a:t> prioritization, storage-risk alerts, route planning, and demand matching.</a:t>
            </a:r>
            <a:endParaRPr lang="en-US" sz="1800" dirty="0"/>
          </a:p>
          <a:p>
            <a:pPr algn="l" indent="0" marL="0">
              <a:lnSpc>
                <a:spcPct val="115000"/>
              </a:lnSpc>
              <a:spcAft>
                <a:spcPts val="1550"/>
              </a:spcAft>
              <a:buNone/>
            </a:pPr>
            <a:r>
              <a:rPr lang="en-US" sz="1800" b="1" dirty="0">
                <a:solidFill>
                  <a:srgbClr val="FFFFFF"/>
                </a:solidFill>
                <a:latin typeface="Red Hat Text Bold" pitchFamily="34" charset="0"/>
                <a:ea typeface="Red Hat Text Bold" pitchFamily="34" charset="-122"/>
                <a:cs typeface="Red Hat Text Bold" pitchFamily="34" charset="-120"/>
              </a:rPr>
              <a:t>Goal:</a:t>
            </a:r>
            <a:pPr algn="l" indent="0" marL="0">
              <a:lnSpc>
                <a:spcPct val="115000"/>
              </a:lnSpc>
              <a:spcAft>
                <a:spcPts val="1550"/>
              </a:spcAft>
              <a:buNone/>
            </a:pPr>
            <a:r>
              <a:rPr lang="en-US" sz="1800" dirty="0">
                <a:solidFill>
                  <a:srgbClr val="FFFFFF"/>
                </a:solidFill>
                <a:latin typeface="Red Hat Text" pitchFamily="34" charset="0"/>
                <a:ea typeface="Red Hat Text" pitchFamily="34" charset="-122"/>
                <a:cs typeface="Red Hat Text" pitchFamily="34" charset="-120"/>
              </a:rPr>
              <a:t> better logistics decisions with less avoidable food waste.</a:t>
            </a:r>
            <a:endParaRPr lang="en-US" sz="1800" dirty="0"/>
          </a:p>
          <a:p>
            <a:pPr algn="l" indent="0" marL="0">
              <a:lnSpc>
                <a:spcPct val="115000"/>
              </a:lnSpc>
              <a:buNone/>
            </a:pPr>
            <a:r>
              <a:rPr lang="en-US" sz="1800" b="1" dirty="0">
                <a:solidFill>
                  <a:srgbClr val="FFFFFF"/>
                </a:solidFill>
                <a:latin typeface="Red Hat Text Bold" pitchFamily="34" charset="0"/>
                <a:ea typeface="Red Hat Text Bold" pitchFamily="34" charset="-122"/>
                <a:cs typeface="Red Hat Text Bold" pitchFamily="34" charset="-120"/>
              </a:rPr>
              <a:t>Future scope:</a:t>
            </a:r>
            <a:pPr algn="l" indent="0" marL="0">
              <a:lnSpc>
                <a:spcPct val="115000"/>
              </a:lnSpc>
              <a:buNone/>
            </a:pPr>
            <a:r>
              <a:rPr lang="en-US" sz="1800" dirty="0">
                <a:solidFill>
                  <a:srgbClr val="FFFFFF"/>
                </a:solidFill>
                <a:latin typeface="Red Hat Text" pitchFamily="34" charset="0"/>
                <a:ea typeface="Red Hat Text" pitchFamily="34" charset="-122"/>
                <a:cs typeface="Red Hat Text" pitchFamily="34" charset="-120"/>
              </a:rPr>
              <a:t> real-time IoT sensors, predictive risk models, live traffic optimization, and partner integrations.</a:t>
            </a:r>
            <a:endParaRPr lang="en-US" sz="1800" dirty="0"/>
          </a:p>
        </p:txBody>
      </p:sp>
      <p:sp>
        <p:nvSpPr>
          <p:cNvPr id="7" name="Text 5"/>
          <p:cNvSpPr/>
          <p:nvPr/>
        </p:nvSpPr>
        <p:spPr>
          <a:xfrm>
            <a:off x="457189" y="5827427"/>
            <a:ext cx="7264218" cy="315416"/>
          </a:xfrm>
          <a:prstGeom prst="rect">
            <a:avLst/>
          </a:prstGeom>
          <a:noFill/>
          <a:ln/>
        </p:spPr>
        <p:txBody>
          <a:bodyPr wrap="none" lIns="0" tIns="0" rIns="0" bIns="0" rtlCol="0" anchor="t"/>
          <a:lstStyle/>
          <a:p>
            <a:pPr algn="l" indent="0" marL="0">
              <a:lnSpc>
                <a:spcPct val="115000"/>
              </a:lnSpc>
              <a:buNone/>
            </a:pPr>
            <a:r>
              <a:rPr lang="en-US" sz="1800" dirty="0">
                <a:solidFill>
                  <a:srgbClr val="FFFFFF"/>
                </a:solidFill>
                <a:latin typeface="Red Hat Text" pitchFamily="34" charset="0"/>
                <a:ea typeface="Red Hat Text" pitchFamily="34" charset="-122"/>
                <a:cs typeface="Red Hat Text" pitchFamily="34" charset="-120"/>
              </a:rPr>
              <a:t>FreshRoute – Deliver Fresh, Waste Less!</a:t>
            </a:r>
            <a:endParaRPr lang="en-US" sz="1800" dirty="0"/>
          </a:p>
        </p:txBody>
      </p:sp>
      <p:sp>
        <p:nvSpPr>
          <p:cNvPr id="8" name="Text 6"/>
          <p:cNvSpPr/>
          <p:nvPr/>
        </p:nvSpPr>
        <p:spPr>
          <a:xfrm>
            <a:off x="457189" y="6347186"/>
            <a:ext cx="7264218" cy="234652"/>
          </a:xfrm>
          <a:prstGeom prst="rect">
            <a:avLst/>
          </a:prstGeom>
          <a:noFill/>
          <a:ln/>
        </p:spPr>
        <p:txBody>
          <a:bodyPr wrap="none" lIns="0" tIns="0" rIns="0" bIns="0" rtlCol="0" anchor="t"/>
          <a:lstStyle/>
          <a:p>
            <a:pPr algn="l" indent="0" marL="0">
              <a:lnSpc>
                <a:spcPct val="110000"/>
              </a:lnSpc>
              <a:buNone/>
            </a:pPr>
            <a:r>
              <a:rPr lang="en-US" sz="1400" b="1" spc="14" kern="100" dirty="0">
                <a:solidFill>
                  <a:srgbClr val="FFFFFF"/>
                </a:solidFill>
                <a:latin typeface="Red Hat Text Bold" pitchFamily="34" charset="0"/>
                <a:ea typeface="Red Hat Text Bold" pitchFamily="34" charset="-122"/>
                <a:cs typeface="Red Hat Text Bold" pitchFamily="34" charset="-120"/>
              </a:rPr>
              <a:t>Thank You – Questions?</a:t>
            </a:r>
            <a:endParaRPr lang="en-US" sz="1400" dirty="0"/>
          </a:p>
        </p:txBody>
      </p:sp>
      <p:pic>
        <p:nvPicPr>
          <p:cNvPr id="9" name="Image 0" descr="preencoded.png">    </p:cNvPr>
          <p:cNvPicPr>
            <a:picLocks noChangeAspect="1"/>
          </p:cNvPicPr>
          <p:nvPr/>
        </p:nvPicPr>
        <p:blipFill>
          <a:blip r:embed="rId1"/>
          <a:stretch>
            <a:fillRect/>
          </a:stretch>
        </p:blipFill>
        <p:spPr>
          <a:xfrm>
            <a:off x="7721407" y="0"/>
            <a:ext cx="447028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2026-10-12T12:33:37Z</dcterms:created>
  <dcterms:modified xsi:type="dcterms:W3CDTF">2026-10-12T12:33:37Z</dcterms:modified>
</cp:coreProperties>
</file>